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1" d="100"/>
          <a:sy n="81" d="100"/>
        </p:scale>
        <p:origin x="-27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F887C3D9-0244-442F-A4AC-C790865C1101}" type="datetimeFigureOut">
              <a:rPr lang="en-GB" smtClean="0"/>
              <a:t>14/05/2026</a:t>
            </a:fld>
            <a:endParaRPr lang="en-GB"/>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A90AF884-B1B2-473D-9116-203BE0F0862F}" type="slidenum">
              <a:rPr lang="en-GB" smtClean="0"/>
              <a:t>‹#›</a:t>
            </a:fld>
            <a:endParaRPr lang="en-GB"/>
          </a:p>
        </p:txBody>
      </p:sp>
    </p:spTree>
    <p:extLst>
      <p:ext uri="{BB962C8B-B14F-4D97-AF65-F5344CB8AC3E}">
        <p14:creationId xmlns:p14="http://schemas.microsoft.com/office/powerpoint/2010/main" val="1726709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report translates exploratory Python analysis into a business decision narrative. The framing is not only what happened, but where leadership can act first.
The key tension is clear: the company remains largely profitable, yet 54.7% of orders are late. This means the current operating model is still commercially viable, but customer experience and future margin are at risk if delivery consistency does not improve.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executives, the short version is this: the company does not need to solve every delay equally. It needs to reduce preventable delays in the highest-risk operating lanes first.
The strongest opportunities are premium shipping mode reliability, Central Africa, payment review and suspected fraud queues, and predictable calendar-hour spikes. These are specific enough to convert into a 90-day action plan.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reframes the problem from a logistics metric to a management system problem. The company currently observes the outcome. The opportunity is to intervene earlier.
The right analytical goal is not only measuring delay percentage. The right goal is to build an operating rhythm that flags risk and connects it to specific actions.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baseline shows that delivery reliability is below the threshold expected for a trusted e-commerce fulfillment model. A 54.7% late rate means delivery variability is not isolated; it is systemic.
However, the 90th percentile delay is 3 days. That suggests many delays are not extreme logistics failures. They are likely caused by scheduling, queue timing, payment holds, processing priority, carrier assignment, or service promise mismatch.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shows that the dominant delay state is a 1-day delay. This is not a small edge case; it is the largest slice of the order base.
The right chart shows the profit paradox. The 1-day delayed group produces the highest total profit because it has the most orders. This should not be interpreted as delay being good. Once delays move to 3 days, average profit reaches the lowest point in the table. The company should protect the large 1-day group from becoming a 2- to 3-day group.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separates total profit from average profit. Total profit follows volume; average profit reveals efficiency. Stakeholders should avoid celebrating profitable delay buckets without understanding their operational cost and customer experience cost.
The recommended action is to create two management lanes. Lane one reduces the high-volume 1-day delay. Lane two escalates severe delay risk because average profit deteriorates sharply by day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breakdown view is important because it prevents overfitting the story to a single dimension. Customer segments have very similar delay rates, so targeting customers alone will not solve the issue.
Regions, shipping modes, order statuses, and departments show more useful variation. This supports an operational intervention plan rather than a broad customer-segment strategy.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operational signal in the analysis is the shipping mode breakdown. First Class at 100% delay and Second Class at 79.7% delay should trigger immediate investigation.
This does not mean the business should abandon premium shipping. It means premium promises need tighter eligibility rules, carrier-level review, fulfillment cut-off discipline, and a weekly SLA scorecard.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time-based chart suggests delivery performance has predictable timing stress. December is a seasonal risk period, Monday is the highest day-of-week delay rate, and hour 20 is the highest hourly spike.
These patterns should be converted into operational planning. For example, the business can increase review capacity before Monday peaks, monitor evening order cutoffs, and run pre-December capacity simulations.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Africa has the highest regional delay percentage in the overall breakdown. The driver chart shows that the issue is not just geography; it is tied to shipping mode and order-processing statuses.
This makes Central Africa a strong pilot market for a control tower. The goal would be to identify at-risk orders early, clear payment and fraud queues faster, and audit premium shipping lanes with specific owners.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profitability distribution is encouraging: 80.6% of orders are profitable. However, the 18.7% loss-making order share is operationally meaningful.
The next level of decision-making is not simply reducing delays. It is reducing delays where they threaten profit and customer trust the most. A high-margin, high-risk order should get different treatment than a low-margin, high-risk order.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priorities are selected because they are grounded in the patterns visible in the analysis: shipping mode, region, order status, payment type, time, and profitability.
The recommendation is not to redesign the full supply chain immediately. The recommendation is to run focused interventions where the data shows concentrated risk and measurable upside.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system should be designed for operations, not only analytics reporting. A useful model should connect risk to a specific next action.
The first version can be simple. It can predict whether an order is likely to be delayed. The second version can predict delay days and expected profit exposure. The most valuable version adds decision rules that tell teams which intervention to take.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is designed to avoid a long analytics project with no business action. The first 30 days standardize measurement. The next 30 days test specific interventions. The final 30 days scale the predictive workflow.
Stakeholders should align on ownership early. Without named owners, a predictive model becomes another dashboard. With owners, it becomes an operating system.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stakeholder-ready system needs a governance layer. The KPIs should reflect both business outcomes and operational actions.
The decision ask is intentionally focused. Rather than asking for a full transformation program, this deck recommends a 90-day pilot with clear targets and ownership.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takeaway is simple: the data is mature enough for action. The analysis has identified patterns with enough specificity to run a business pilot.
The recommended management behavior is to predict, prioritize, and prevent. Predict delay risk before it happens. Prioritize orders based on profit exposure and customer impact. Prevent the delay with operational interventions.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323"/>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438912"/>
            <a:ext cx="5120640" cy="237744"/>
          </a:xfrm>
          <a:prstGeom prst="rect">
            <a:avLst/>
          </a:prstGeom>
          <a:noFill/>
          <a:ln/>
        </p:spPr>
        <p:txBody>
          <a:bodyPr wrap="square" lIns="0" tIns="0" rIns="0" bIns="0" rtlCol="0" anchor="ctr"/>
          <a:lstStyle/>
          <a:p>
            <a:pPr marL="0" indent="0">
              <a:buNone/>
            </a:pPr>
            <a:r>
              <a:rPr lang="en-US" sz="950" b="1" dirty="0">
                <a:solidFill>
                  <a:srgbClr val="F2B705"/>
                </a:solidFill>
              </a:rPr>
              <a:t>SUPPLY CHAIN MANAGEMENT ANALYSIS</a:t>
            </a:r>
            <a:endParaRPr lang="en-US" sz="950" dirty="0"/>
          </a:p>
        </p:txBody>
      </p:sp>
      <p:sp>
        <p:nvSpPr>
          <p:cNvPr id="3" name="Text 1"/>
          <p:cNvSpPr/>
          <p:nvPr/>
        </p:nvSpPr>
        <p:spPr>
          <a:xfrm>
            <a:off x="548640" y="1170432"/>
            <a:ext cx="7635240" cy="914400"/>
          </a:xfrm>
          <a:prstGeom prst="rect">
            <a:avLst/>
          </a:prstGeom>
          <a:noFill/>
          <a:ln/>
        </p:spPr>
        <p:txBody>
          <a:bodyPr wrap="square" lIns="254" tIns="254" rIns="254" bIns="254" rtlCol="0" anchor="ctr">
            <a:normAutofit fontScale="92500" lnSpcReduction="10000"/>
          </a:bodyP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From late deliveries to a predictive operating system</a:t>
            </a:r>
            <a:endParaRPr lang="en-US" sz="3600" dirty="0"/>
          </a:p>
        </p:txBody>
      </p:sp>
      <p:sp>
        <p:nvSpPr>
          <p:cNvPr id="4" name="Text 2"/>
          <p:cNvSpPr/>
          <p:nvPr/>
        </p:nvSpPr>
        <p:spPr>
          <a:xfrm>
            <a:off x="566928" y="2487168"/>
            <a:ext cx="7498080" cy="493776"/>
          </a:xfrm>
          <a:prstGeom prst="rect">
            <a:avLst/>
          </a:prstGeom>
          <a:noFill/>
          <a:ln/>
        </p:spPr>
        <p:txBody>
          <a:bodyPr wrap="square" lIns="254" tIns="254" rIns="254" bIns="254" rtlCol="0" anchor="ctr">
            <a:normAutofit/>
          </a:bodyPr>
          <a:lstStyle/>
          <a:p>
            <a:pPr marL="0" indent="0">
              <a:buNone/>
            </a:pPr>
            <a:r>
              <a:rPr lang="en-US" sz="1500" dirty="0">
                <a:solidFill>
                  <a:srgbClr val="B8C0CC"/>
                </a:solidFill>
              </a:rPr>
              <a:t>A stakeholder report built from Python-based order, delivery, profitability, regional, status, payment, and time-pattern analysis.</a:t>
            </a:r>
            <a:endParaRPr lang="en-US" sz="1500" dirty="0"/>
          </a:p>
        </p:txBody>
      </p:sp>
      <p:sp>
        <p:nvSpPr>
          <p:cNvPr id="5" name="Text 3"/>
          <p:cNvSpPr/>
          <p:nvPr/>
        </p:nvSpPr>
        <p:spPr>
          <a:xfrm>
            <a:off x="594360" y="3886200"/>
            <a:ext cx="1920240" cy="411480"/>
          </a:xfrm>
          <a:prstGeom prst="rect">
            <a:avLst/>
          </a:prstGeom>
          <a:noFill/>
          <a:ln/>
        </p:spPr>
        <p:txBody>
          <a:bodyPr wrap="square" lIns="0" tIns="0" rIns="0" bIns="0" rtlCol="0" anchor="ctr">
            <a:normAutofit lnSpcReduction="10000"/>
          </a:bodyPr>
          <a:lstStyle/>
          <a:p>
            <a:pPr marL="0" indent="0">
              <a:buNone/>
            </a:pPr>
            <a:r>
              <a:rPr lang="en-US" sz="2900" b="1" dirty="0">
                <a:solidFill>
                  <a:srgbClr val="F5F7FB"/>
                </a:solidFill>
                <a:latin typeface="Aptos Display" pitchFamily="34" charset="0"/>
                <a:ea typeface="Aptos Display" pitchFamily="34" charset="-122"/>
                <a:cs typeface="Aptos Display" pitchFamily="34" charset="-120"/>
              </a:rPr>
              <a:t>180,519</a:t>
            </a:r>
            <a:endParaRPr lang="en-US" sz="2900" dirty="0"/>
          </a:p>
        </p:txBody>
      </p:sp>
      <p:sp>
        <p:nvSpPr>
          <p:cNvPr id="6" name="Text 4"/>
          <p:cNvSpPr/>
          <p:nvPr/>
        </p:nvSpPr>
        <p:spPr>
          <a:xfrm>
            <a:off x="594360" y="4361688"/>
            <a:ext cx="192024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orders analyzed</a:t>
            </a:r>
            <a:endParaRPr lang="en-US" sz="1020" dirty="0"/>
          </a:p>
        </p:txBody>
      </p:sp>
      <p:sp>
        <p:nvSpPr>
          <p:cNvPr id="7" name="Text 5"/>
          <p:cNvSpPr/>
          <p:nvPr/>
        </p:nvSpPr>
        <p:spPr>
          <a:xfrm>
            <a:off x="2743200" y="3886200"/>
            <a:ext cx="1920240" cy="411480"/>
          </a:xfrm>
          <a:prstGeom prst="rect">
            <a:avLst/>
          </a:prstGeom>
          <a:noFill/>
          <a:ln/>
        </p:spPr>
        <p:txBody>
          <a:bodyPr wrap="square" lIns="0" tIns="0" rIns="0" bIns="0" rtlCol="0" anchor="ctr">
            <a:normAutofit lnSpcReduction="10000"/>
          </a:bodyPr>
          <a:lstStyle/>
          <a:p>
            <a:pPr marL="0" indent="0">
              <a:buNone/>
            </a:pPr>
            <a:r>
              <a:rPr lang="en-US" sz="2900" b="1" dirty="0">
                <a:solidFill>
                  <a:srgbClr val="C04D82"/>
                </a:solidFill>
                <a:latin typeface="Aptos Display" pitchFamily="34" charset="0"/>
                <a:ea typeface="Aptos Display" pitchFamily="34" charset="-122"/>
                <a:cs typeface="Aptos Display" pitchFamily="34" charset="-120"/>
              </a:rPr>
              <a:t>54.7%</a:t>
            </a:r>
            <a:endParaRPr lang="en-US" sz="2900" dirty="0"/>
          </a:p>
        </p:txBody>
      </p:sp>
      <p:sp>
        <p:nvSpPr>
          <p:cNvPr id="8" name="Text 6"/>
          <p:cNvSpPr/>
          <p:nvPr/>
        </p:nvSpPr>
        <p:spPr>
          <a:xfrm>
            <a:off x="2743200" y="4361688"/>
            <a:ext cx="192024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late delivery rate</a:t>
            </a:r>
            <a:endParaRPr lang="en-US" sz="1020" dirty="0"/>
          </a:p>
        </p:txBody>
      </p:sp>
      <p:sp>
        <p:nvSpPr>
          <p:cNvPr id="9" name="Text 7"/>
          <p:cNvSpPr/>
          <p:nvPr/>
        </p:nvSpPr>
        <p:spPr>
          <a:xfrm>
            <a:off x="4892040" y="3886200"/>
            <a:ext cx="2011680" cy="411480"/>
          </a:xfrm>
          <a:prstGeom prst="rect">
            <a:avLst/>
          </a:prstGeom>
          <a:noFill/>
          <a:ln/>
        </p:spPr>
        <p:txBody>
          <a:bodyPr wrap="square" lIns="0" tIns="0" rIns="0" bIns="0" rtlCol="0" anchor="ctr">
            <a:normAutofit lnSpcReduction="10000"/>
          </a:bodyPr>
          <a:lstStyle/>
          <a:p>
            <a:pPr marL="0" indent="0">
              <a:buNone/>
            </a:pPr>
            <a:r>
              <a:rPr lang="en-US" sz="2900" b="1" dirty="0">
                <a:solidFill>
                  <a:srgbClr val="F2B705"/>
                </a:solidFill>
                <a:latin typeface="Aptos Display" pitchFamily="34" charset="0"/>
                <a:ea typeface="Aptos Display" pitchFamily="34" charset="-122"/>
                <a:cs typeface="Aptos Display" pitchFamily="34" charset="-120"/>
              </a:rPr>
              <a:t>80.6%</a:t>
            </a:r>
            <a:endParaRPr lang="en-US" sz="2900" dirty="0"/>
          </a:p>
        </p:txBody>
      </p:sp>
      <p:sp>
        <p:nvSpPr>
          <p:cNvPr id="10" name="Text 8"/>
          <p:cNvSpPr/>
          <p:nvPr/>
        </p:nvSpPr>
        <p:spPr>
          <a:xfrm>
            <a:off x="4892040" y="4361688"/>
            <a:ext cx="201168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orders still profitable</a:t>
            </a:r>
            <a:endParaRPr lang="en-US" sz="1020" dirty="0"/>
          </a:p>
        </p:txBody>
      </p:sp>
      <p:sp>
        <p:nvSpPr>
          <p:cNvPr id="11" name="Text 9"/>
          <p:cNvSpPr/>
          <p:nvPr/>
        </p:nvSpPr>
        <p:spPr>
          <a:xfrm>
            <a:off x="7040880" y="3886200"/>
            <a:ext cx="1920240" cy="411480"/>
          </a:xfrm>
          <a:prstGeom prst="rect">
            <a:avLst/>
          </a:prstGeom>
          <a:noFill/>
          <a:ln/>
        </p:spPr>
        <p:txBody>
          <a:bodyPr wrap="square" lIns="0" tIns="0" rIns="0" bIns="0" rtlCol="0" anchor="ctr">
            <a:normAutofit lnSpcReduction="10000"/>
          </a:bodyPr>
          <a:lstStyle/>
          <a:p>
            <a:pPr marL="0" indent="0">
              <a:buNone/>
            </a:pPr>
            <a:r>
              <a:rPr lang="en-US" sz="2900" b="1" dirty="0">
                <a:solidFill>
                  <a:srgbClr val="F5F7FB"/>
                </a:solidFill>
                <a:latin typeface="Aptos Display" pitchFamily="34" charset="0"/>
                <a:ea typeface="Aptos Display" pitchFamily="34" charset="-122"/>
                <a:cs typeface="Aptos Display" pitchFamily="34" charset="-120"/>
              </a:rPr>
              <a:t>3 days</a:t>
            </a:r>
            <a:endParaRPr lang="en-US" sz="2900" dirty="0"/>
          </a:p>
        </p:txBody>
      </p:sp>
      <p:sp>
        <p:nvSpPr>
          <p:cNvPr id="12" name="Text 10"/>
          <p:cNvSpPr/>
          <p:nvPr/>
        </p:nvSpPr>
        <p:spPr>
          <a:xfrm>
            <a:off x="7040880" y="4361688"/>
            <a:ext cx="192024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90th percentile delay</a:t>
            </a:r>
            <a:endParaRPr lang="en-US" sz="1020" dirty="0"/>
          </a:p>
        </p:txBody>
      </p:sp>
      <p:sp>
        <p:nvSpPr>
          <p:cNvPr id="13" name="Text 11"/>
          <p:cNvSpPr/>
          <p:nvPr/>
        </p:nvSpPr>
        <p:spPr>
          <a:xfrm>
            <a:off x="8792308" y="1444752"/>
            <a:ext cx="2797712" cy="1920240"/>
          </a:xfrm>
          <a:prstGeom prst="rect">
            <a:avLst/>
          </a:prstGeom>
          <a:solidFill>
            <a:srgbClr val="0F253C"/>
          </a:solidFill>
          <a:ln w="13970">
            <a:solidFill>
              <a:srgbClr val="7B2CBF">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Core story: </a:t>
            </a:r>
            <a:endParaRPr lang="en-US" sz="1250" dirty="0" smtClean="0">
              <a:solidFill>
                <a:srgbClr val="F5F7FB"/>
              </a:solidFill>
            </a:endParaRPr>
          </a:p>
          <a:p>
            <a:pPr marL="0" indent="0" algn="ctr">
              <a:buNone/>
            </a:pPr>
            <a:r>
              <a:rPr lang="en-US" sz="1250" dirty="0" smtClean="0">
                <a:solidFill>
                  <a:srgbClr val="F5F7FB"/>
                </a:solidFill>
              </a:rPr>
              <a:t>The </a:t>
            </a:r>
            <a:r>
              <a:rPr lang="en-US" sz="1250" dirty="0">
                <a:solidFill>
                  <a:srgbClr val="F5F7FB"/>
                </a:solidFill>
              </a:rPr>
              <a:t>business is profitable, but reliability is fragile. Most delays are small enough to fix before they become customer trust problems.</a:t>
            </a:r>
            <a:endParaRPr lang="en-US" sz="1250" dirty="0"/>
          </a:p>
        </p:txBody>
      </p:sp>
      <p:sp>
        <p:nvSpPr>
          <p:cNvPr id="14" name="Text 12"/>
          <p:cNvSpPr/>
          <p:nvPr/>
        </p:nvSpPr>
        <p:spPr>
          <a:xfrm>
            <a:off x="9144000" y="4526280"/>
            <a:ext cx="2194560" cy="274320"/>
          </a:xfrm>
          <a:prstGeom prst="rect">
            <a:avLst/>
          </a:prstGeom>
          <a:noFill/>
          <a:ln/>
        </p:spPr>
        <p:txBody>
          <a:bodyPr wrap="square" lIns="254" tIns="254" rIns="254" bIns="254" rtlCol="0" anchor="ctr">
            <a:normAutofit fontScale="92500"/>
          </a:bodyPr>
          <a:lstStyle/>
          <a:p>
            <a:pPr marL="0" indent="0">
              <a:buNone/>
            </a:pPr>
            <a:r>
              <a:rPr lang="en-US" sz="1200" b="1" dirty="0">
                <a:solidFill>
                  <a:srgbClr val="F2B705"/>
                </a:solidFill>
              </a:rPr>
              <a:t>Stakeholder-ready decision deck</a:t>
            </a:r>
            <a:endParaRPr lang="en-US" sz="1200" dirty="0"/>
          </a:p>
        </p:txBody>
      </p:sp>
      <p:sp>
        <p:nvSpPr>
          <p:cNvPr id="15" name="Text 13"/>
          <p:cNvSpPr/>
          <p:nvPr/>
        </p:nvSpPr>
        <p:spPr>
          <a:xfrm>
            <a:off x="9144000" y="4892040"/>
            <a:ext cx="2148840" cy="502920"/>
          </a:xfrm>
          <a:prstGeom prst="rect">
            <a:avLst/>
          </a:prstGeom>
          <a:noFill/>
          <a:ln/>
        </p:spPr>
        <p:txBody>
          <a:bodyPr wrap="square" lIns="254" tIns="254" rIns="254" bIns="254" rtlCol="0" anchor="ctr">
            <a:normAutofit lnSpcReduction="10000"/>
          </a:bodyPr>
          <a:lstStyle/>
          <a:p>
            <a:pPr marL="0" indent="0">
              <a:buNone/>
            </a:pPr>
            <a:r>
              <a:rPr lang="en-US" sz="1200" dirty="0">
                <a:solidFill>
                  <a:srgbClr val="B8C0CC"/>
                </a:solidFill>
              </a:rPr>
              <a:t>Prepared for mixed business, operations, finance, and analytics audiences.</a:t>
            </a:r>
            <a:endParaRPr lang="en-US" sz="1200" dirty="0"/>
          </a:p>
        </p:txBody>
      </p:sp>
      <p:sp>
        <p:nvSpPr>
          <p:cNvPr id="17" name="Text 14"/>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18" name="Text 1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Executive summary</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The data points to a reliability problem, not a demand problem.</a:t>
            </a:r>
            <a:endParaRPr lang="en-US" sz="1050" dirty="0"/>
          </a:p>
        </p:txBody>
      </p:sp>
      <p:sp>
        <p:nvSpPr>
          <p:cNvPr id="4" name="Text 2"/>
          <p:cNvSpPr/>
          <p:nvPr/>
        </p:nvSpPr>
        <p:spPr>
          <a:xfrm>
            <a:off x="548640" y="1097280"/>
            <a:ext cx="2011680" cy="201168"/>
          </a:xfrm>
          <a:prstGeom prst="rect">
            <a:avLst/>
          </a:prstGeom>
          <a:noFill/>
          <a:ln/>
        </p:spPr>
        <p:txBody>
          <a:bodyPr wrap="square" lIns="0" tIns="0" rIns="0" bIns="0" rtlCol="0" anchor="ctr"/>
          <a:lstStyle/>
          <a:p>
            <a:pPr marL="0" indent="0">
              <a:buNone/>
            </a:pPr>
            <a:r>
              <a:rPr lang="en-US" sz="820" b="1" dirty="0">
                <a:solidFill>
                  <a:srgbClr val="F2B705"/>
                </a:solidFill>
              </a:rPr>
              <a:t>DECISION NARRATIVE</a:t>
            </a:r>
            <a:endParaRPr lang="en-US" sz="820" dirty="0"/>
          </a:p>
        </p:txBody>
      </p:sp>
      <p:sp>
        <p:nvSpPr>
          <p:cNvPr id="5" name="Text 3"/>
          <p:cNvSpPr/>
          <p:nvPr/>
        </p:nvSpPr>
        <p:spPr>
          <a:xfrm>
            <a:off x="566928" y="1417320"/>
            <a:ext cx="5303520" cy="1097280"/>
          </a:xfrm>
          <a:prstGeom prst="rect">
            <a:avLst/>
          </a:prstGeom>
          <a:noFill/>
          <a:ln/>
        </p:spPr>
        <p:txBody>
          <a:bodyPr wrap="square" lIns="254" tIns="254" rIns="254" bIns="254" rtlCol="0" anchor="ctr">
            <a:normAutofit/>
          </a:bodyPr>
          <a:lstStyle/>
          <a:p>
            <a:pPr marL="0" indent="0">
              <a:buNone/>
            </a:pPr>
            <a:r>
              <a:rPr lang="en-US" sz="1700" dirty="0">
                <a:solidFill>
                  <a:srgbClr val="F5F7FB"/>
                </a:solidFill>
              </a:rPr>
              <a:t>The company handles strong order volume across regions, yet delivery timelines are inconsistent. More orders are late than on time, and the delay pattern is concentrated enough to be operationally manageable.</a:t>
            </a:r>
            <a:endParaRPr lang="en-US" sz="1700" dirty="0"/>
          </a:p>
        </p:txBody>
      </p:sp>
      <p:sp>
        <p:nvSpPr>
          <p:cNvPr id="6" name="Text 4"/>
          <p:cNvSpPr/>
          <p:nvPr/>
        </p:nvSpPr>
        <p:spPr>
          <a:xfrm>
            <a:off x="566928" y="2779776"/>
            <a:ext cx="5303520" cy="1097280"/>
          </a:xfrm>
          <a:prstGeom prst="rect">
            <a:avLst/>
          </a:prstGeom>
          <a:noFill/>
          <a:ln/>
        </p:spPr>
        <p:txBody>
          <a:bodyPr wrap="square" lIns="254" tIns="254" rIns="254" bIns="254" rtlCol="0" anchor="ctr">
            <a:normAutofit fontScale="92500"/>
          </a:bodyPr>
          <a:lstStyle/>
          <a:p>
            <a:pPr marL="0" indent="0">
              <a:buNone/>
            </a:pPr>
            <a:r>
              <a:rPr lang="en-US" sz="1700" dirty="0">
                <a:solidFill>
                  <a:srgbClr val="F5F7FB"/>
                </a:solidFill>
              </a:rPr>
              <a:t>The highest total profit comes from 1-day delayed orders because this is the largest order group. That creates a dangerous illusion: delays look profitable in aggregate, but average profit weakens as delays grow longer.</a:t>
            </a:r>
            <a:endParaRPr lang="en-US" sz="1700" dirty="0"/>
          </a:p>
        </p:txBody>
      </p:sp>
      <p:sp>
        <p:nvSpPr>
          <p:cNvPr id="7" name="Text 5"/>
          <p:cNvSpPr/>
          <p:nvPr/>
        </p:nvSpPr>
        <p:spPr>
          <a:xfrm>
            <a:off x="658368" y="4709160"/>
            <a:ext cx="4754880" cy="768096"/>
          </a:xfrm>
          <a:prstGeom prst="rect">
            <a:avLst/>
          </a:prstGeom>
          <a:solidFill>
            <a:srgbClr val="0F253C"/>
          </a:solidFill>
          <a:ln w="13970">
            <a:solidFill>
              <a:srgbClr val="F2B705">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Main decision: </a:t>
            </a:r>
            <a:endParaRPr lang="en-US" sz="1250" dirty="0" smtClean="0">
              <a:solidFill>
                <a:srgbClr val="F5F7FB"/>
              </a:solidFill>
            </a:endParaRPr>
          </a:p>
          <a:p>
            <a:pPr marL="0" indent="0" algn="ctr">
              <a:buNone/>
            </a:pPr>
            <a:r>
              <a:rPr lang="en-US" sz="1250" dirty="0" smtClean="0">
                <a:solidFill>
                  <a:srgbClr val="F5F7FB"/>
                </a:solidFill>
              </a:rPr>
              <a:t>shift </a:t>
            </a:r>
            <a:r>
              <a:rPr lang="en-US" sz="1250" dirty="0">
                <a:solidFill>
                  <a:srgbClr val="F5F7FB"/>
                </a:solidFill>
              </a:rPr>
              <a:t>from reactive delay reporting to predictive delay prevention.</a:t>
            </a:r>
            <a:endParaRPr lang="en-US" sz="1250" dirty="0"/>
          </a:p>
        </p:txBody>
      </p:sp>
      <p:sp>
        <p:nvSpPr>
          <p:cNvPr id="8" name="Text 6"/>
          <p:cNvSpPr/>
          <p:nvPr/>
        </p:nvSpPr>
        <p:spPr>
          <a:xfrm>
            <a:off x="6492240" y="1298448"/>
            <a:ext cx="237744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C04D82"/>
                </a:solidFill>
                <a:latin typeface="Aptos Display" pitchFamily="34" charset="0"/>
                <a:ea typeface="Aptos Display" pitchFamily="34" charset="-122"/>
                <a:cs typeface="Aptos Display" pitchFamily="34" charset="-120"/>
              </a:rPr>
              <a:t>98,743</a:t>
            </a:r>
            <a:endParaRPr lang="en-US" sz="3000" dirty="0"/>
          </a:p>
        </p:txBody>
      </p:sp>
      <p:sp>
        <p:nvSpPr>
          <p:cNvPr id="9" name="Text 7"/>
          <p:cNvSpPr/>
          <p:nvPr/>
        </p:nvSpPr>
        <p:spPr>
          <a:xfrm>
            <a:off x="6492240" y="1773936"/>
            <a:ext cx="237744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late </a:t>
            </a:r>
            <a:r>
              <a:rPr lang="en-US" sz="1020" b="1" dirty="0">
                <a:solidFill>
                  <a:srgbClr val="B8C0CC"/>
                </a:solidFill>
              </a:rPr>
              <a:t>deliveries</a:t>
            </a:r>
            <a:r>
              <a:rPr lang="en-US" sz="1020" dirty="0">
                <a:solidFill>
                  <a:srgbClr val="B8C0CC"/>
                </a:solidFill>
              </a:rPr>
              <a:t> to reduce</a:t>
            </a:r>
            <a:endParaRPr lang="en-US" sz="1020" dirty="0"/>
          </a:p>
        </p:txBody>
      </p:sp>
      <p:sp>
        <p:nvSpPr>
          <p:cNvPr id="10" name="Text 8"/>
          <p:cNvSpPr/>
          <p:nvPr/>
        </p:nvSpPr>
        <p:spPr>
          <a:xfrm>
            <a:off x="9144000" y="1298448"/>
            <a:ext cx="228600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F2B705"/>
                </a:solidFill>
                <a:latin typeface="Aptos Display" pitchFamily="34" charset="0"/>
                <a:ea typeface="Aptos Display" pitchFamily="34" charset="-122"/>
                <a:cs typeface="Aptos Display" pitchFamily="34" charset="-120"/>
              </a:rPr>
              <a:t>31.0%</a:t>
            </a:r>
            <a:endParaRPr lang="en-US" sz="3000" dirty="0"/>
          </a:p>
        </p:txBody>
      </p:sp>
      <p:sp>
        <p:nvSpPr>
          <p:cNvPr id="11" name="Text 9"/>
          <p:cNvSpPr/>
          <p:nvPr/>
        </p:nvSpPr>
        <p:spPr>
          <a:xfrm>
            <a:off x="9144000" y="1773936"/>
            <a:ext cx="2286000" cy="310896"/>
          </a:xfrm>
          <a:prstGeom prst="rect">
            <a:avLst/>
          </a:prstGeom>
          <a:noFill/>
          <a:ln/>
        </p:spPr>
        <p:txBody>
          <a:bodyPr wrap="square" lIns="0" tIns="0" rIns="0" bIns="0" rtlCol="0" anchor="ctr">
            <a:normAutofit/>
          </a:bodyPr>
          <a:lstStyle/>
          <a:p>
            <a:pPr marL="0" indent="0">
              <a:buNone/>
            </a:pPr>
            <a:r>
              <a:rPr lang="en-US" sz="1020" b="1" dirty="0">
                <a:solidFill>
                  <a:srgbClr val="B8C0CC"/>
                </a:solidFill>
              </a:rPr>
              <a:t>orders delayed by 1 day</a:t>
            </a:r>
            <a:endParaRPr lang="en-US" sz="1020" b="1" dirty="0"/>
          </a:p>
        </p:txBody>
      </p:sp>
      <p:sp>
        <p:nvSpPr>
          <p:cNvPr id="12" name="Text 10"/>
          <p:cNvSpPr/>
          <p:nvPr/>
        </p:nvSpPr>
        <p:spPr>
          <a:xfrm>
            <a:off x="6492240" y="2971800"/>
            <a:ext cx="237744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DA4E5A"/>
                </a:solidFill>
                <a:latin typeface="Aptos Display" pitchFamily="34" charset="0"/>
                <a:ea typeface="Aptos Display" pitchFamily="34" charset="-122"/>
                <a:cs typeface="Aptos Display" pitchFamily="34" charset="-120"/>
              </a:rPr>
              <a:t>18.7%</a:t>
            </a:r>
            <a:endParaRPr lang="en-US" sz="3000" dirty="0"/>
          </a:p>
        </p:txBody>
      </p:sp>
      <p:sp>
        <p:nvSpPr>
          <p:cNvPr id="13" name="Text 11"/>
          <p:cNvSpPr/>
          <p:nvPr/>
        </p:nvSpPr>
        <p:spPr>
          <a:xfrm>
            <a:off x="6492240" y="3447288"/>
            <a:ext cx="237744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orders losing </a:t>
            </a:r>
            <a:r>
              <a:rPr lang="en-US" sz="1020" b="1" dirty="0">
                <a:solidFill>
                  <a:srgbClr val="B8C0CC"/>
                </a:solidFill>
              </a:rPr>
              <a:t>money</a:t>
            </a:r>
            <a:endParaRPr lang="en-US" sz="1020" b="1" dirty="0"/>
          </a:p>
        </p:txBody>
      </p:sp>
      <p:sp>
        <p:nvSpPr>
          <p:cNvPr id="14" name="Text 12"/>
          <p:cNvSpPr/>
          <p:nvPr/>
        </p:nvSpPr>
        <p:spPr>
          <a:xfrm>
            <a:off x="9144000" y="2971800"/>
            <a:ext cx="246888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F5F7FB"/>
                </a:solidFill>
                <a:latin typeface="Aptos Display" pitchFamily="34" charset="0"/>
                <a:ea typeface="Aptos Display" pitchFamily="34" charset="-122"/>
                <a:cs typeface="Aptos Display" pitchFamily="34" charset="-120"/>
              </a:rPr>
              <a:t>59.3%</a:t>
            </a:r>
            <a:endParaRPr lang="en-US" sz="3000" dirty="0"/>
          </a:p>
        </p:txBody>
      </p:sp>
      <p:sp>
        <p:nvSpPr>
          <p:cNvPr id="15" name="Text 13"/>
          <p:cNvSpPr/>
          <p:nvPr/>
        </p:nvSpPr>
        <p:spPr>
          <a:xfrm>
            <a:off x="9144000" y="3447288"/>
            <a:ext cx="2468880" cy="310896"/>
          </a:xfrm>
          <a:prstGeom prst="rect">
            <a:avLst/>
          </a:prstGeom>
          <a:noFill/>
          <a:ln/>
        </p:spPr>
        <p:txBody>
          <a:bodyPr wrap="square" lIns="0" tIns="0" rIns="0" bIns="0" rtlCol="0" anchor="ctr">
            <a:normAutofit/>
          </a:bodyPr>
          <a:lstStyle/>
          <a:p>
            <a:pPr marL="0" indent="0">
              <a:buNone/>
            </a:pPr>
            <a:r>
              <a:rPr lang="en-US" sz="1020" b="1" dirty="0">
                <a:solidFill>
                  <a:srgbClr val="B8C0CC"/>
                </a:solidFill>
              </a:rPr>
              <a:t>delay rate in Central Africa</a:t>
            </a:r>
            <a:endParaRPr lang="en-US" sz="1020" b="1" dirty="0"/>
          </a:p>
        </p:txBody>
      </p:sp>
      <p:sp>
        <p:nvSpPr>
          <p:cNvPr id="16" name="Text 14"/>
          <p:cNvSpPr/>
          <p:nvPr/>
        </p:nvSpPr>
        <p:spPr>
          <a:xfrm>
            <a:off x="6492240" y="4645152"/>
            <a:ext cx="3291840" cy="292608"/>
          </a:xfrm>
          <a:prstGeom prst="rect">
            <a:avLst/>
          </a:prstGeom>
          <a:noFill/>
          <a:ln/>
        </p:spPr>
        <p:txBody>
          <a:bodyPr wrap="square" lIns="254" tIns="254" rIns="254" bIns="254" rtlCol="0" anchor="ctr">
            <a:normAutofit/>
          </a:bodyPr>
          <a:lstStyle/>
          <a:p>
            <a:pPr marL="0" indent="0">
              <a:buNone/>
            </a:pPr>
            <a:r>
              <a:rPr lang="en-US" sz="1200" b="1" dirty="0">
                <a:solidFill>
                  <a:srgbClr val="F2B705"/>
                </a:solidFill>
              </a:rPr>
              <a:t>Recommended focus areas</a:t>
            </a:r>
            <a:endParaRPr lang="en-US" sz="1200" dirty="0"/>
          </a:p>
        </p:txBody>
      </p:sp>
      <p:sp>
        <p:nvSpPr>
          <p:cNvPr id="17" name="Text 15"/>
          <p:cNvSpPr/>
          <p:nvPr/>
        </p:nvSpPr>
        <p:spPr>
          <a:xfrm>
            <a:off x="6492240" y="5010912"/>
            <a:ext cx="4846320" cy="932688"/>
          </a:xfrm>
          <a:prstGeom prst="rect">
            <a:avLst/>
          </a:prstGeom>
          <a:noFill/>
          <a:ln/>
        </p:spPr>
        <p:txBody>
          <a:bodyPr wrap="square" lIns="254" tIns="254" rIns="254" bIns="254" rtlCol="0" anchor="ctr">
            <a:normAutofit lnSpcReduction="10000"/>
          </a:bodyPr>
          <a:lstStyle/>
          <a:p>
            <a:pPr marL="0" indent="0">
              <a:buNone/>
            </a:pPr>
            <a:r>
              <a:rPr lang="en-US" sz="1280" dirty="0">
                <a:solidFill>
                  <a:srgbClr val="F5F7FB"/>
                </a:solidFill>
              </a:rPr>
              <a:t>1. Fix premium shipping reliability</a:t>
            </a:r>
            <a:endParaRPr lang="en-US" sz="1280" dirty="0"/>
          </a:p>
          <a:p>
            <a:pPr marL="0" indent="0">
              <a:buNone/>
            </a:pPr>
            <a:r>
              <a:rPr lang="en-US" sz="1280" dirty="0">
                <a:solidFill>
                  <a:srgbClr val="F5F7FB"/>
                </a:solidFill>
              </a:rPr>
              <a:t>2. Create regional delay control tower</a:t>
            </a:r>
            <a:endParaRPr lang="en-US" sz="1280" dirty="0"/>
          </a:p>
          <a:p>
            <a:pPr marL="0" indent="0">
              <a:buNone/>
            </a:pPr>
            <a:r>
              <a:rPr lang="en-US" sz="1280" dirty="0">
                <a:solidFill>
                  <a:srgbClr val="F5F7FB"/>
                </a:solidFill>
              </a:rPr>
              <a:t>3. Fast-track payment and fraud review</a:t>
            </a:r>
            <a:endParaRPr lang="en-US" sz="1280" dirty="0"/>
          </a:p>
          <a:p>
            <a:pPr marL="0" indent="0">
              <a:buNone/>
            </a:pPr>
            <a:r>
              <a:rPr lang="en-US" sz="1280" dirty="0">
                <a:solidFill>
                  <a:srgbClr val="F5F7FB"/>
                </a:solidFill>
              </a:rPr>
              <a:t>4. Deploy predictive delay scoring</a:t>
            </a:r>
            <a:endParaRPr lang="en-US" sz="1280" dirty="0"/>
          </a:p>
          <a:p>
            <a:pPr marL="0" indent="0">
              <a:buNone/>
            </a:pPr>
            <a:r>
              <a:rPr lang="en-US" sz="1280" dirty="0">
                <a:solidFill>
                  <a:srgbClr val="F5F7FB"/>
                </a:solidFill>
              </a:rPr>
              <a:t>5. Govern actions with weekly KPI reviews</a:t>
            </a:r>
            <a:endParaRPr lang="en-US" sz="1280" dirty="0"/>
          </a:p>
        </p:txBody>
      </p:sp>
      <p:sp>
        <p:nvSpPr>
          <p:cNvPr id="19" name="Text 16"/>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20" name="Text 17"/>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The business problem in one frame</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Customers experience delay as uncertainty; the company experiences it as cost, margin risk, and operational noise.</a:t>
            </a:r>
            <a:endParaRPr lang="en-US" sz="1050" dirty="0"/>
          </a:p>
        </p:txBody>
      </p:sp>
      <p:sp>
        <p:nvSpPr>
          <p:cNvPr id="4" name="Text 2"/>
          <p:cNvSpPr/>
          <p:nvPr/>
        </p:nvSpPr>
        <p:spPr>
          <a:xfrm>
            <a:off x="548640" y="1097280"/>
            <a:ext cx="2011680" cy="201168"/>
          </a:xfrm>
          <a:prstGeom prst="rect">
            <a:avLst/>
          </a:prstGeom>
          <a:noFill/>
          <a:ln/>
        </p:spPr>
        <p:txBody>
          <a:bodyPr wrap="square" lIns="0" tIns="0" rIns="0" bIns="0" rtlCol="0" anchor="ctr"/>
          <a:lstStyle/>
          <a:p>
            <a:pPr marL="0" indent="0">
              <a:buNone/>
            </a:pPr>
            <a:r>
              <a:rPr lang="en-US" sz="820" b="1" dirty="0">
                <a:solidFill>
                  <a:srgbClr val="F2B705"/>
                </a:solidFill>
              </a:rPr>
              <a:t>FROM SYMPTOM TO SYSTEM</a:t>
            </a:r>
            <a:endParaRPr lang="en-US" sz="820" dirty="0"/>
          </a:p>
        </p:txBody>
      </p:sp>
      <p:sp>
        <p:nvSpPr>
          <p:cNvPr id="5" name="Text 3"/>
          <p:cNvSpPr/>
          <p:nvPr/>
        </p:nvSpPr>
        <p:spPr>
          <a:xfrm>
            <a:off x="594360" y="1417320"/>
            <a:ext cx="5212080" cy="1051560"/>
          </a:xfrm>
          <a:prstGeom prst="rect">
            <a:avLst/>
          </a:prstGeom>
          <a:noFill/>
          <a:ln/>
        </p:spPr>
        <p:txBody>
          <a:bodyPr wrap="square" lIns="254" tIns="254" rIns="254" bIns="254" rtlCol="0" anchor="ctr">
            <a:normAutofit/>
          </a:bodyPr>
          <a:lstStyle/>
          <a:p>
            <a:pPr marL="0" indent="0">
              <a:buNone/>
            </a:pPr>
            <a:r>
              <a:rPr lang="en-US" sz="1700" dirty="0">
                <a:solidFill>
                  <a:srgbClr val="F5F7FB"/>
                </a:solidFill>
              </a:rPr>
              <a:t>Today, the operation sees late delivery after the fact. The stakeholder need is different: identify the orders likely to miss their promised timeline before they create customer impact.</a:t>
            </a:r>
            <a:endParaRPr lang="en-US" sz="1700" dirty="0"/>
          </a:p>
        </p:txBody>
      </p:sp>
      <p:sp>
        <p:nvSpPr>
          <p:cNvPr id="6" name="Text 4"/>
          <p:cNvSpPr/>
          <p:nvPr/>
        </p:nvSpPr>
        <p:spPr>
          <a:xfrm>
            <a:off x="594360" y="2788920"/>
            <a:ext cx="5212080" cy="768096"/>
          </a:xfrm>
          <a:prstGeom prst="rect">
            <a:avLst/>
          </a:prstGeom>
          <a:noFill/>
          <a:ln/>
        </p:spPr>
        <p:txBody>
          <a:bodyPr wrap="square" lIns="254" tIns="254" rIns="254" bIns="254" rtlCol="0" anchor="ctr">
            <a:normAutofit lnSpcReduction="10000"/>
          </a:bodyPr>
          <a:lstStyle/>
          <a:p>
            <a:pPr marL="0" indent="0">
              <a:buNone/>
            </a:pPr>
            <a:r>
              <a:rPr lang="en-US" sz="1700" dirty="0">
                <a:solidFill>
                  <a:srgbClr val="F5F7FB"/>
                </a:solidFill>
              </a:rPr>
              <a:t>The analysis shows delays are not random. They cluster by shipping mode, region, order status, payment type, department, month, day, and hour.</a:t>
            </a:r>
            <a:endParaRPr lang="en-US" sz="1700" dirty="0"/>
          </a:p>
        </p:txBody>
      </p:sp>
      <p:sp>
        <p:nvSpPr>
          <p:cNvPr id="7" name="Text 5"/>
          <p:cNvSpPr/>
          <p:nvPr/>
        </p:nvSpPr>
        <p:spPr>
          <a:xfrm>
            <a:off x="685800" y="4434840"/>
            <a:ext cx="4754880" cy="868680"/>
          </a:xfrm>
          <a:prstGeom prst="rect">
            <a:avLst/>
          </a:prstGeom>
          <a:solidFill>
            <a:srgbClr val="0F253C"/>
          </a:solidFill>
          <a:ln w="13970">
            <a:solidFill>
              <a:srgbClr val="C04D82">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A late order is the end of the story. A risk-scored order is where decision-making begins.</a:t>
            </a:r>
            <a:endParaRPr lang="en-US" sz="1250" dirty="0"/>
          </a:p>
        </p:txBody>
      </p:sp>
      <p:sp>
        <p:nvSpPr>
          <p:cNvPr id="8" name="Text 6"/>
          <p:cNvSpPr/>
          <p:nvPr/>
        </p:nvSpPr>
        <p:spPr>
          <a:xfrm>
            <a:off x="6400800" y="1188720"/>
            <a:ext cx="210312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Current state</a:t>
            </a:r>
            <a:endParaRPr lang="en-US" sz="1400" dirty="0"/>
          </a:p>
        </p:txBody>
      </p:sp>
      <p:sp>
        <p:nvSpPr>
          <p:cNvPr id="9" name="Text 7"/>
          <p:cNvSpPr/>
          <p:nvPr/>
        </p:nvSpPr>
        <p:spPr>
          <a:xfrm>
            <a:off x="6446520" y="1627632"/>
            <a:ext cx="2606040" cy="1508760"/>
          </a:xfrm>
          <a:prstGeom prst="rect">
            <a:avLst/>
          </a:prstGeom>
          <a:noFill/>
          <a:ln/>
        </p:spPr>
        <p:txBody>
          <a:bodyPr wrap="square" lIns="254" tIns="254" rIns="254" bIns="254" rtlCol="0" anchor="ctr">
            <a:normAutofit/>
          </a:bodyPr>
          <a:lstStyle/>
          <a:p>
            <a:pPr marL="0" indent="0">
              <a:buNone/>
            </a:pPr>
            <a:r>
              <a:rPr lang="en-US" sz="1400" dirty="0">
                <a:solidFill>
                  <a:srgbClr val="F5F7FB"/>
                </a:solidFill>
              </a:rPr>
              <a:t>Order placed</a:t>
            </a:r>
            <a:endParaRPr lang="en-US" sz="1400" dirty="0"/>
          </a:p>
          <a:p>
            <a:pPr marL="0" indent="0">
              <a:buNone/>
            </a:pPr>
            <a:r>
              <a:rPr lang="en-US" sz="1400" dirty="0">
                <a:solidFill>
                  <a:srgbClr val="F5F7FB"/>
                </a:solidFill>
              </a:rPr>
              <a:t>Shipping mode selected</a:t>
            </a:r>
            <a:endParaRPr lang="en-US" sz="1400" dirty="0"/>
          </a:p>
          <a:p>
            <a:pPr marL="0" indent="0">
              <a:buNone/>
            </a:pPr>
            <a:r>
              <a:rPr lang="en-US" sz="1400" dirty="0">
                <a:solidFill>
                  <a:srgbClr val="F5F7FB"/>
                </a:solidFill>
              </a:rPr>
              <a:t>Payment or review queue</a:t>
            </a:r>
            <a:endParaRPr lang="en-US" sz="1400" dirty="0"/>
          </a:p>
          <a:p>
            <a:pPr marL="0" indent="0">
              <a:buNone/>
            </a:pPr>
            <a:r>
              <a:rPr lang="en-US" sz="1400" dirty="0">
                <a:solidFill>
                  <a:srgbClr val="F5F7FB"/>
                </a:solidFill>
              </a:rPr>
              <a:t>Fulfillment starts</a:t>
            </a:r>
            <a:endParaRPr lang="en-US" sz="1400" dirty="0"/>
          </a:p>
          <a:p>
            <a:pPr marL="0" indent="0">
              <a:buNone/>
            </a:pPr>
            <a:r>
              <a:rPr lang="en-US" sz="1400" dirty="0">
                <a:solidFill>
                  <a:srgbClr val="F5F7FB"/>
                </a:solidFill>
              </a:rPr>
              <a:t>Delay discovered late</a:t>
            </a:r>
            <a:endParaRPr lang="en-US" sz="1400" dirty="0"/>
          </a:p>
        </p:txBody>
      </p:sp>
      <p:sp>
        <p:nvSpPr>
          <p:cNvPr id="10" name="Text 8"/>
          <p:cNvSpPr/>
          <p:nvPr/>
        </p:nvSpPr>
        <p:spPr>
          <a:xfrm>
            <a:off x="9217152" y="1188720"/>
            <a:ext cx="210312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Future state</a:t>
            </a:r>
            <a:endParaRPr lang="en-US" sz="1400" dirty="0"/>
          </a:p>
        </p:txBody>
      </p:sp>
      <p:sp>
        <p:nvSpPr>
          <p:cNvPr id="11" name="Text 9"/>
          <p:cNvSpPr/>
          <p:nvPr/>
        </p:nvSpPr>
        <p:spPr>
          <a:xfrm>
            <a:off x="9217152" y="1627632"/>
            <a:ext cx="2606040" cy="1508760"/>
          </a:xfrm>
          <a:prstGeom prst="rect">
            <a:avLst/>
          </a:prstGeom>
          <a:noFill/>
          <a:ln/>
        </p:spPr>
        <p:txBody>
          <a:bodyPr wrap="square" lIns="254" tIns="254" rIns="254" bIns="254" rtlCol="0" anchor="ctr">
            <a:normAutofit/>
          </a:bodyPr>
          <a:lstStyle/>
          <a:p>
            <a:pPr marL="0" indent="0">
              <a:buNone/>
            </a:pPr>
            <a:r>
              <a:rPr lang="en-US" sz="1400" dirty="0">
                <a:solidFill>
                  <a:srgbClr val="F5F7FB"/>
                </a:solidFill>
              </a:rPr>
              <a:t>Order placed</a:t>
            </a:r>
            <a:endParaRPr lang="en-US" sz="1400" dirty="0"/>
          </a:p>
          <a:p>
            <a:pPr marL="0" indent="0">
              <a:buNone/>
            </a:pPr>
            <a:r>
              <a:rPr lang="en-US" sz="1400" dirty="0">
                <a:solidFill>
                  <a:srgbClr val="F5F7FB"/>
                </a:solidFill>
              </a:rPr>
              <a:t>Delay risk scored</a:t>
            </a:r>
            <a:endParaRPr lang="en-US" sz="1400" dirty="0"/>
          </a:p>
          <a:p>
            <a:pPr marL="0" indent="0">
              <a:buNone/>
            </a:pPr>
            <a:r>
              <a:rPr lang="en-US" sz="1400" dirty="0">
                <a:solidFill>
                  <a:srgbClr val="F5F7FB"/>
                </a:solidFill>
              </a:rPr>
              <a:t>Exception routed early</a:t>
            </a:r>
            <a:endParaRPr lang="en-US" sz="1400" dirty="0"/>
          </a:p>
          <a:p>
            <a:pPr marL="0" indent="0">
              <a:buNone/>
            </a:pPr>
            <a:r>
              <a:rPr lang="en-US" sz="1400" dirty="0">
                <a:solidFill>
                  <a:srgbClr val="F5F7FB"/>
                </a:solidFill>
              </a:rPr>
              <a:t>Promise adjusted or expedited</a:t>
            </a:r>
            <a:endParaRPr lang="en-US" sz="1400" dirty="0"/>
          </a:p>
          <a:p>
            <a:pPr marL="0" indent="0">
              <a:buNone/>
            </a:pPr>
            <a:r>
              <a:rPr lang="en-US" sz="1400" dirty="0">
                <a:solidFill>
                  <a:srgbClr val="F5F7FB"/>
                </a:solidFill>
              </a:rPr>
              <a:t>Customer trust protected</a:t>
            </a:r>
            <a:endParaRPr lang="en-US" sz="1400" dirty="0"/>
          </a:p>
        </p:txBody>
      </p:sp>
      <p:sp>
        <p:nvSpPr>
          <p:cNvPr id="12" name="Text 10"/>
          <p:cNvSpPr/>
          <p:nvPr/>
        </p:nvSpPr>
        <p:spPr>
          <a:xfrm>
            <a:off x="6492240" y="4041648"/>
            <a:ext cx="4389120" cy="292608"/>
          </a:xfrm>
          <a:prstGeom prst="rect">
            <a:avLst/>
          </a:prstGeom>
          <a:noFill/>
          <a:ln/>
        </p:spPr>
        <p:txBody>
          <a:bodyPr wrap="square" lIns="254" tIns="254" rIns="254" bIns="254" rtlCol="0" anchor="ctr">
            <a:normAutofit/>
          </a:bodyPr>
          <a:lstStyle/>
          <a:p>
            <a:pPr marL="0" indent="0">
              <a:buNone/>
            </a:pPr>
            <a:r>
              <a:rPr lang="en-US" sz="1300" b="1" dirty="0">
                <a:solidFill>
                  <a:srgbClr val="F2B705"/>
                </a:solidFill>
              </a:rPr>
              <a:t>Decision lens</a:t>
            </a:r>
            <a:endParaRPr lang="en-US" sz="1300" dirty="0"/>
          </a:p>
        </p:txBody>
      </p:sp>
      <p:sp>
        <p:nvSpPr>
          <p:cNvPr id="13" name="Text 11"/>
          <p:cNvSpPr/>
          <p:nvPr/>
        </p:nvSpPr>
        <p:spPr>
          <a:xfrm>
            <a:off x="6492240" y="4434840"/>
            <a:ext cx="4480560" cy="685800"/>
          </a:xfrm>
          <a:prstGeom prst="rect">
            <a:avLst/>
          </a:prstGeom>
          <a:noFill/>
          <a:ln/>
        </p:spPr>
        <p:txBody>
          <a:bodyPr wrap="square" lIns="254" tIns="254" rIns="254" bIns="254" rtlCol="0" anchor="ctr">
            <a:normAutofit lnSpcReduction="10000"/>
          </a:bodyPr>
          <a:lstStyle/>
          <a:p>
            <a:pPr marL="0" indent="0">
              <a:buNone/>
            </a:pPr>
            <a:r>
              <a:rPr lang="en-US" sz="1600" b="1" dirty="0">
                <a:solidFill>
                  <a:srgbClr val="FFFFFF"/>
                </a:solidFill>
              </a:rPr>
              <a:t>Which orders should receive operational attention before they turn into delay, loss, or customer dissatisfaction?</a:t>
            </a:r>
            <a:endParaRPr lang="en-US" sz="1600" dirty="0"/>
          </a:p>
        </p:txBody>
      </p:sp>
      <p:sp>
        <p:nvSpPr>
          <p:cNvPr id="15" name="Text 12"/>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16" name="Text 13"/>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fontScale="77500" lnSpcReduction="20000"/>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Performance baseline: late delivery is now the majority outcome</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The first stakeholder decision is whether delivery reliability should become a core operating KPI.</a:t>
            </a:r>
            <a:endParaRPr lang="en-US" sz="1050" dirty="0"/>
          </a:p>
        </p:txBody>
      </p:sp>
      <p:sp>
        <p:nvSpPr>
          <p:cNvPr id="4" name="Text 2"/>
          <p:cNvSpPr/>
          <p:nvPr/>
        </p:nvSpPr>
        <p:spPr>
          <a:xfrm>
            <a:off x="685800" y="1325880"/>
            <a:ext cx="228600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2CA58D"/>
                </a:solidFill>
                <a:latin typeface="Aptos Display" pitchFamily="34" charset="0"/>
                <a:ea typeface="Aptos Display" pitchFamily="34" charset="-122"/>
                <a:cs typeface="Aptos Display" pitchFamily="34" charset="-120"/>
              </a:rPr>
              <a:t>45.3%</a:t>
            </a:r>
            <a:endParaRPr lang="en-US" sz="3000" dirty="0"/>
          </a:p>
        </p:txBody>
      </p:sp>
      <p:sp>
        <p:nvSpPr>
          <p:cNvPr id="5" name="Text 3"/>
          <p:cNvSpPr/>
          <p:nvPr/>
        </p:nvSpPr>
        <p:spPr>
          <a:xfrm>
            <a:off x="685800" y="1801368"/>
            <a:ext cx="228600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on-time delivery</a:t>
            </a:r>
            <a:endParaRPr lang="en-US" sz="1020" dirty="0"/>
          </a:p>
        </p:txBody>
      </p:sp>
      <p:sp>
        <p:nvSpPr>
          <p:cNvPr id="6" name="Text 4"/>
          <p:cNvSpPr/>
          <p:nvPr/>
        </p:nvSpPr>
        <p:spPr>
          <a:xfrm>
            <a:off x="3291840" y="1325880"/>
            <a:ext cx="228600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C04D82"/>
                </a:solidFill>
                <a:latin typeface="Aptos Display" pitchFamily="34" charset="0"/>
                <a:ea typeface="Aptos Display" pitchFamily="34" charset="-122"/>
                <a:cs typeface="Aptos Display" pitchFamily="34" charset="-120"/>
              </a:rPr>
              <a:t>54.7%</a:t>
            </a:r>
            <a:endParaRPr lang="en-US" sz="3000" dirty="0"/>
          </a:p>
        </p:txBody>
      </p:sp>
      <p:sp>
        <p:nvSpPr>
          <p:cNvPr id="7" name="Text 5"/>
          <p:cNvSpPr/>
          <p:nvPr/>
        </p:nvSpPr>
        <p:spPr>
          <a:xfrm>
            <a:off x="3291840" y="1801368"/>
            <a:ext cx="228600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late delivery</a:t>
            </a:r>
            <a:endParaRPr lang="en-US" sz="1020" dirty="0"/>
          </a:p>
        </p:txBody>
      </p:sp>
      <p:sp>
        <p:nvSpPr>
          <p:cNvPr id="8" name="Text 6"/>
          <p:cNvSpPr/>
          <p:nvPr/>
        </p:nvSpPr>
        <p:spPr>
          <a:xfrm>
            <a:off x="5897880" y="1325880"/>
            <a:ext cx="237744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F2B705"/>
                </a:solidFill>
                <a:latin typeface="Aptos Display" pitchFamily="34" charset="0"/>
                <a:ea typeface="Aptos Display" pitchFamily="34" charset="-122"/>
                <a:cs typeface="Aptos Display" pitchFamily="34" charset="-120"/>
              </a:rPr>
              <a:t>3.0</a:t>
            </a:r>
            <a:endParaRPr lang="en-US" sz="3000" dirty="0"/>
          </a:p>
        </p:txBody>
      </p:sp>
      <p:sp>
        <p:nvSpPr>
          <p:cNvPr id="9" name="Text 7"/>
          <p:cNvSpPr/>
          <p:nvPr/>
        </p:nvSpPr>
        <p:spPr>
          <a:xfrm>
            <a:off x="5897880" y="1801368"/>
            <a:ext cx="237744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90% delay threshold in days</a:t>
            </a:r>
            <a:endParaRPr lang="en-US" sz="1020" dirty="0"/>
          </a:p>
        </p:txBody>
      </p:sp>
      <p:sp>
        <p:nvSpPr>
          <p:cNvPr id="10" name="Text 8"/>
          <p:cNvSpPr/>
          <p:nvPr/>
        </p:nvSpPr>
        <p:spPr>
          <a:xfrm>
            <a:off x="8549640" y="1325880"/>
            <a:ext cx="228600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F5F7FB"/>
                </a:solidFill>
                <a:latin typeface="Aptos Display" pitchFamily="34" charset="0"/>
                <a:ea typeface="Aptos Display" pitchFamily="34" charset="-122"/>
                <a:cs typeface="Aptos Display" pitchFamily="34" charset="-120"/>
              </a:rPr>
              <a:t>7.8%</a:t>
            </a:r>
            <a:endParaRPr lang="en-US" sz="3000" dirty="0"/>
          </a:p>
        </p:txBody>
      </p:sp>
      <p:sp>
        <p:nvSpPr>
          <p:cNvPr id="11" name="Text 9"/>
          <p:cNvSpPr/>
          <p:nvPr/>
        </p:nvSpPr>
        <p:spPr>
          <a:xfrm>
            <a:off x="8549640" y="1801368"/>
            <a:ext cx="228600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orders delayed 3 to 4 days</a:t>
            </a:r>
            <a:endParaRPr lang="en-US" sz="1020" dirty="0"/>
          </a:p>
        </p:txBody>
      </p:sp>
      <p:sp>
        <p:nvSpPr>
          <p:cNvPr id="12" name="Text 10"/>
          <p:cNvSpPr/>
          <p:nvPr/>
        </p:nvSpPr>
        <p:spPr>
          <a:xfrm>
            <a:off x="685800" y="2971800"/>
            <a:ext cx="2194560" cy="274320"/>
          </a:xfrm>
          <a:prstGeom prst="rect">
            <a:avLst/>
          </a:prstGeom>
          <a:noFill/>
          <a:ln/>
        </p:spPr>
        <p:txBody>
          <a:bodyPr wrap="square" lIns="254" tIns="254" rIns="254" bIns="254" rtlCol="0" anchor="ctr">
            <a:normAutofit/>
          </a:bodyPr>
          <a:lstStyle/>
          <a:p>
            <a:pPr marL="0" indent="0">
              <a:buNone/>
            </a:pPr>
            <a:r>
              <a:rPr lang="en-US" sz="1350" b="1" dirty="0">
                <a:solidFill>
                  <a:srgbClr val="F2B705"/>
                </a:solidFill>
              </a:rPr>
              <a:t>Interpretation</a:t>
            </a:r>
            <a:endParaRPr lang="en-US" sz="1350" dirty="0"/>
          </a:p>
        </p:txBody>
      </p:sp>
      <p:sp>
        <p:nvSpPr>
          <p:cNvPr id="13" name="Text 11"/>
          <p:cNvSpPr/>
          <p:nvPr/>
        </p:nvSpPr>
        <p:spPr>
          <a:xfrm>
            <a:off x="685800" y="3337560"/>
            <a:ext cx="4937760" cy="1115568"/>
          </a:xfrm>
          <a:prstGeom prst="rect">
            <a:avLst/>
          </a:prstGeom>
          <a:noFill/>
          <a:ln/>
        </p:spPr>
        <p:txBody>
          <a:bodyPr wrap="square" lIns="254" tIns="254" rIns="254" bIns="254" rtlCol="0" anchor="ctr">
            <a:normAutofit lnSpcReduction="10000"/>
          </a:bodyPr>
          <a:lstStyle/>
          <a:p>
            <a:pPr marL="0" indent="0">
              <a:buNone/>
            </a:pPr>
            <a:r>
              <a:rPr lang="en-US" sz="1500" dirty="0">
                <a:solidFill>
                  <a:srgbClr val="F5F7FB"/>
                </a:solidFill>
              </a:rPr>
              <a:t>The operation is not failing because every order is severely delayed. It is underperforming because small delays are frequent. That makes the problem fixable through better forecasting, queue discipline, and shipping mode controls.</a:t>
            </a:r>
            <a:endParaRPr lang="en-US" sz="1500" dirty="0"/>
          </a:p>
        </p:txBody>
      </p:sp>
      <p:sp>
        <p:nvSpPr>
          <p:cNvPr id="14" name="Text 12"/>
          <p:cNvSpPr/>
          <p:nvPr/>
        </p:nvSpPr>
        <p:spPr>
          <a:xfrm>
            <a:off x="6309360" y="3246120"/>
            <a:ext cx="4480560" cy="914400"/>
          </a:xfrm>
          <a:prstGeom prst="rect">
            <a:avLst/>
          </a:prstGeom>
          <a:solidFill>
            <a:srgbClr val="0F253C"/>
          </a:solidFill>
          <a:ln w="13970">
            <a:solidFill>
              <a:srgbClr val="F2B705">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The biggest lever is not chasing every late order. </a:t>
            </a:r>
            <a:endParaRPr lang="en-US" sz="1250" dirty="0" smtClean="0">
              <a:solidFill>
                <a:srgbClr val="F5F7FB"/>
              </a:solidFill>
            </a:endParaRPr>
          </a:p>
          <a:p>
            <a:pPr marL="0" indent="0" algn="ctr">
              <a:buNone/>
            </a:pPr>
            <a:r>
              <a:rPr lang="en-US" sz="1250" dirty="0" smtClean="0">
                <a:solidFill>
                  <a:srgbClr val="F5F7FB"/>
                </a:solidFill>
              </a:rPr>
              <a:t>It </a:t>
            </a:r>
            <a:r>
              <a:rPr lang="en-US" sz="1250" dirty="0">
                <a:solidFill>
                  <a:srgbClr val="F5F7FB"/>
                </a:solidFill>
              </a:rPr>
              <a:t>is preventing the repeatable 1-day miss.</a:t>
            </a:r>
            <a:endParaRPr lang="en-US" sz="1250" dirty="0"/>
          </a:p>
        </p:txBody>
      </p:sp>
      <p:sp>
        <p:nvSpPr>
          <p:cNvPr id="15" name="Text 13"/>
          <p:cNvSpPr/>
          <p:nvPr/>
        </p:nvSpPr>
        <p:spPr>
          <a:xfrm>
            <a:off x="685800" y="4983480"/>
            <a:ext cx="3474720" cy="274320"/>
          </a:xfrm>
          <a:prstGeom prst="rect">
            <a:avLst/>
          </a:prstGeom>
          <a:noFill/>
          <a:ln/>
        </p:spPr>
        <p:txBody>
          <a:bodyPr wrap="square" lIns="254" tIns="254" rIns="254" bIns="254" rtlCol="0" anchor="ctr">
            <a:normAutofit/>
          </a:bodyPr>
          <a:lstStyle/>
          <a:p>
            <a:pPr marL="0" indent="0">
              <a:buNone/>
            </a:pPr>
            <a:r>
              <a:rPr lang="en-US" sz="1300" b="1" dirty="0">
                <a:solidFill>
                  <a:srgbClr val="F2B705"/>
                </a:solidFill>
              </a:rPr>
              <a:t>What stakeholders should watch weekly</a:t>
            </a:r>
            <a:endParaRPr lang="en-US" sz="1300" dirty="0"/>
          </a:p>
        </p:txBody>
      </p:sp>
      <p:sp>
        <p:nvSpPr>
          <p:cNvPr id="16" name="Text 14"/>
          <p:cNvSpPr/>
          <p:nvPr/>
        </p:nvSpPr>
        <p:spPr>
          <a:xfrm>
            <a:off x="685800" y="5376672"/>
            <a:ext cx="8412480" cy="329184"/>
          </a:xfrm>
          <a:prstGeom prst="rect">
            <a:avLst/>
          </a:prstGeom>
          <a:noFill/>
          <a:ln/>
        </p:spPr>
        <p:txBody>
          <a:bodyPr wrap="square" lIns="254" tIns="254" rIns="254" bIns="254" rtlCol="0" anchor="ctr">
            <a:normAutofit/>
          </a:bodyPr>
          <a:lstStyle/>
          <a:p>
            <a:pPr marL="0" indent="0">
              <a:buNone/>
            </a:pPr>
            <a:r>
              <a:rPr lang="en-US" sz="1320" dirty="0">
                <a:solidFill>
                  <a:srgbClr val="B8C0CC"/>
                </a:solidFill>
              </a:rPr>
              <a:t>Late delivery %  |  Severe delay %  |  On-time by shipping mode  |  Delayed profit exposure</a:t>
            </a:r>
            <a:endParaRPr lang="en-US" sz="1320" dirty="0"/>
          </a:p>
        </p:txBody>
      </p:sp>
      <p:sp>
        <p:nvSpPr>
          <p:cNvPr id="18" name="Text 15"/>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19" name="Text 16"/>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Delay and profit tell a more complex story</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Volume makes short delays look commercially safe, but longer delays start hurting average profit.</a:t>
            </a:r>
            <a:endParaRPr lang="en-US" sz="1050" dirty="0"/>
          </a:p>
        </p:txBody>
      </p:sp>
      <p:pic>
        <p:nvPicPr>
          <p:cNvPr id="4" name="Image 0" descr="/mnt/data/Profit&amp;Delay.jpg"/>
          <p:cNvPicPr>
            <a:picLocks noChangeAspect="1"/>
          </p:cNvPicPr>
          <p:nvPr/>
        </p:nvPicPr>
        <p:blipFill>
          <a:blip r:embed="rId3"/>
          <a:stretch>
            <a:fillRect/>
          </a:stretch>
        </p:blipFill>
        <p:spPr>
          <a:xfrm>
            <a:off x="457200" y="1079956"/>
            <a:ext cx="11265408" cy="4186023"/>
          </a:xfrm>
          <a:prstGeom prst="rect">
            <a:avLst/>
          </a:prstGeom>
        </p:spPr>
      </p:pic>
      <p:sp>
        <p:nvSpPr>
          <p:cNvPr id="5" name="Text 2"/>
          <p:cNvSpPr/>
          <p:nvPr/>
        </p:nvSpPr>
        <p:spPr>
          <a:xfrm>
            <a:off x="777240" y="5513832"/>
            <a:ext cx="4983480" cy="603504"/>
          </a:xfrm>
          <a:prstGeom prst="rect">
            <a:avLst/>
          </a:prstGeom>
          <a:solidFill>
            <a:srgbClr val="0F253C"/>
          </a:solidFill>
          <a:ln w="13970">
            <a:solidFill>
              <a:srgbClr val="C04D82">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31% of all orders are delayed by 1 day, creating the largest profit pool because of volume, not because delay improves operations.</a:t>
            </a:r>
            <a:endParaRPr lang="en-US" sz="1250" dirty="0"/>
          </a:p>
        </p:txBody>
      </p:sp>
      <p:sp>
        <p:nvSpPr>
          <p:cNvPr id="6" name="Text 3"/>
          <p:cNvSpPr/>
          <p:nvPr/>
        </p:nvSpPr>
        <p:spPr>
          <a:xfrm>
            <a:off x="6172200" y="5513832"/>
            <a:ext cx="4251960" cy="603504"/>
          </a:xfrm>
          <a:prstGeom prst="rect">
            <a:avLst/>
          </a:prstGeom>
          <a:solidFill>
            <a:srgbClr val="0F253C"/>
          </a:solidFill>
          <a:ln w="13970">
            <a:solidFill>
              <a:srgbClr val="F2B705">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Average profit falls to $19.94 at 3 days, making severe delays a margin protection issue.</a:t>
            </a:r>
            <a:endParaRPr lang="en-US" sz="1250" dirty="0"/>
          </a:p>
        </p:txBody>
      </p:sp>
      <p:sp>
        <p:nvSpPr>
          <p:cNvPr id="8" name="Text 4"/>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9" name="Text 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The profit paradox: delay volume is hiding risk</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A large profitable late-delivery bucket can make the operation feel healthier than it really is.</a:t>
            </a:r>
            <a:endParaRPr lang="en-US" sz="1050" dirty="0"/>
          </a:p>
        </p:txBody>
      </p:sp>
      <p:sp>
        <p:nvSpPr>
          <p:cNvPr id="4" name="Text 2"/>
          <p:cNvSpPr/>
          <p:nvPr/>
        </p:nvSpPr>
        <p:spPr>
          <a:xfrm>
            <a:off x="566928" y="1325880"/>
            <a:ext cx="2499360" cy="502920"/>
          </a:xfrm>
          <a:prstGeom prst="rect">
            <a:avLst/>
          </a:prstGeom>
          <a:noFill/>
          <a:ln/>
        </p:spPr>
        <p:txBody>
          <a:bodyPr wrap="square" lIns="0" tIns="0" rIns="0" bIns="0" rtlCol="0" anchor="ctr"/>
          <a:lstStyle/>
          <a:p>
            <a:pPr marL="0" indent="0">
              <a:buNone/>
            </a:pPr>
            <a:r>
              <a:rPr lang="en-US" sz="1600" b="1" dirty="0">
                <a:solidFill>
                  <a:srgbClr val="F2B705"/>
                </a:solidFill>
              </a:rPr>
              <a:t>PROFIT BY DELAY DAY</a:t>
            </a:r>
            <a:endParaRPr lang="en-US" sz="1600" dirty="0"/>
          </a:p>
        </p:txBody>
      </p:sp>
      <p:sp>
        <p:nvSpPr>
          <p:cNvPr id="5" name="Text 3"/>
          <p:cNvSpPr/>
          <p:nvPr/>
        </p:nvSpPr>
        <p:spPr>
          <a:xfrm>
            <a:off x="640080" y="1417319"/>
            <a:ext cx="1219200" cy="1482789"/>
          </a:xfrm>
          <a:prstGeom prst="rect">
            <a:avLst/>
          </a:prstGeom>
          <a:noFill/>
          <a:ln/>
        </p:spPr>
        <p:txBody>
          <a:bodyPr wrap="square" lIns="254" tIns="254" rIns="254" bIns="254" rtlCol="0" anchor="ctr">
            <a:normAutofit/>
          </a:bodyPr>
          <a:lstStyle/>
          <a:p>
            <a:pPr marL="0" indent="0">
              <a:buNone/>
            </a:pPr>
            <a:r>
              <a:rPr lang="en-US" sz="1200" b="1" dirty="0">
                <a:solidFill>
                  <a:srgbClr val="F2B705"/>
                </a:solidFill>
              </a:rPr>
              <a:t>Delay</a:t>
            </a:r>
            <a:endParaRPr lang="en-US" sz="1200" dirty="0"/>
          </a:p>
        </p:txBody>
      </p:sp>
      <p:sp>
        <p:nvSpPr>
          <p:cNvPr id="6" name="Text 4"/>
          <p:cNvSpPr/>
          <p:nvPr/>
        </p:nvSpPr>
        <p:spPr>
          <a:xfrm>
            <a:off x="1828800" y="1417319"/>
            <a:ext cx="1219200" cy="1482789"/>
          </a:xfrm>
          <a:prstGeom prst="rect">
            <a:avLst/>
          </a:prstGeom>
          <a:noFill/>
          <a:ln/>
        </p:spPr>
        <p:txBody>
          <a:bodyPr wrap="square" lIns="254" tIns="254" rIns="254" bIns="254" rtlCol="0" anchor="ctr">
            <a:normAutofit/>
          </a:bodyPr>
          <a:lstStyle/>
          <a:p>
            <a:pPr marL="0" indent="0">
              <a:buNone/>
            </a:pPr>
            <a:r>
              <a:rPr lang="en-US" sz="1200" b="1" dirty="0">
                <a:solidFill>
                  <a:srgbClr val="F2B705"/>
                </a:solidFill>
              </a:rPr>
              <a:t>Orders</a:t>
            </a:r>
            <a:endParaRPr lang="en-US" sz="1200" dirty="0"/>
          </a:p>
        </p:txBody>
      </p:sp>
      <p:sp>
        <p:nvSpPr>
          <p:cNvPr id="7" name="Text 5"/>
          <p:cNvSpPr/>
          <p:nvPr/>
        </p:nvSpPr>
        <p:spPr>
          <a:xfrm>
            <a:off x="3063240" y="1417319"/>
            <a:ext cx="1463040" cy="1482789"/>
          </a:xfrm>
          <a:prstGeom prst="rect">
            <a:avLst/>
          </a:prstGeom>
          <a:noFill/>
          <a:ln/>
        </p:spPr>
        <p:txBody>
          <a:bodyPr wrap="square" lIns="254" tIns="254" rIns="254" bIns="254" rtlCol="0" anchor="ctr">
            <a:normAutofit/>
          </a:bodyPr>
          <a:lstStyle/>
          <a:p>
            <a:pPr marL="0" indent="0">
              <a:buNone/>
            </a:pPr>
            <a:r>
              <a:rPr lang="en-US" sz="1200" b="1" dirty="0">
                <a:solidFill>
                  <a:srgbClr val="F2B705"/>
                </a:solidFill>
              </a:rPr>
              <a:t>Avg profit</a:t>
            </a:r>
            <a:endParaRPr lang="en-US" sz="1200" dirty="0"/>
          </a:p>
        </p:txBody>
      </p:sp>
      <p:sp>
        <p:nvSpPr>
          <p:cNvPr id="8" name="Text 6"/>
          <p:cNvSpPr/>
          <p:nvPr/>
        </p:nvSpPr>
        <p:spPr>
          <a:xfrm>
            <a:off x="4318781" y="2021553"/>
            <a:ext cx="1463040" cy="274320"/>
          </a:xfrm>
          <a:prstGeom prst="rect">
            <a:avLst/>
          </a:prstGeom>
          <a:noFill/>
          <a:ln/>
        </p:spPr>
        <p:txBody>
          <a:bodyPr wrap="square" lIns="254" tIns="254" rIns="254" bIns="254" rtlCol="0" anchor="ctr">
            <a:normAutofit/>
          </a:bodyPr>
          <a:lstStyle/>
          <a:p>
            <a:pPr marL="0" indent="0">
              <a:buNone/>
            </a:pPr>
            <a:r>
              <a:rPr lang="en-US" sz="1200" b="1" dirty="0">
                <a:solidFill>
                  <a:srgbClr val="F2B705"/>
                </a:solidFill>
              </a:rPr>
              <a:t>Total profit</a:t>
            </a:r>
            <a:endParaRPr lang="en-US" sz="1200" dirty="0"/>
          </a:p>
        </p:txBody>
      </p:sp>
      <p:sp>
        <p:nvSpPr>
          <p:cNvPr id="9" name="Text 7"/>
          <p:cNvSpPr/>
          <p:nvPr/>
        </p:nvSpPr>
        <p:spPr>
          <a:xfrm>
            <a:off x="640080" y="1783080"/>
            <a:ext cx="134112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 days</a:t>
            </a:r>
            <a:endParaRPr lang="en-US" sz="1180" dirty="0"/>
          </a:p>
        </p:txBody>
      </p:sp>
      <p:sp>
        <p:nvSpPr>
          <p:cNvPr id="10" name="Text 8"/>
          <p:cNvSpPr/>
          <p:nvPr/>
        </p:nvSpPr>
        <p:spPr>
          <a:xfrm>
            <a:off x="1828800" y="1783080"/>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21,666</a:t>
            </a:r>
            <a:endParaRPr lang="en-US" sz="1180" dirty="0"/>
          </a:p>
        </p:txBody>
      </p:sp>
      <p:sp>
        <p:nvSpPr>
          <p:cNvPr id="11" name="Text 9"/>
          <p:cNvSpPr/>
          <p:nvPr/>
        </p:nvSpPr>
        <p:spPr>
          <a:xfrm>
            <a:off x="3063240" y="1783080"/>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$23.42</a:t>
            </a:r>
            <a:endParaRPr lang="en-US" sz="1180" dirty="0"/>
          </a:p>
        </p:txBody>
      </p:sp>
      <p:sp>
        <p:nvSpPr>
          <p:cNvPr id="12" name="Text 10"/>
          <p:cNvSpPr/>
          <p:nvPr/>
        </p:nvSpPr>
        <p:spPr>
          <a:xfrm>
            <a:off x="4434840" y="1783080"/>
            <a:ext cx="146304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$507K</a:t>
            </a:r>
            <a:endParaRPr lang="en-US" sz="1180" dirty="0"/>
          </a:p>
        </p:txBody>
      </p:sp>
      <p:sp>
        <p:nvSpPr>
          <p:cNvPr id="13" name="Text 11"/>
          <p:cNvSpPr/>
          <p:nvPr/>
        </p:nvSpPr>
        <p:spPr>
          <a:xfrm>
            <a:off x="640080" y="2203704"/>
            <a:ext cx="134112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-1 day</a:t>
            </a:r>
            <a:endParaRPr lang="en-US" sz="1180" dirty="0"/>
          </a:p>
        </p:txBody>
      </p:sp>
      <p:sp>
        <p:nvSpPr>
          <p:cNvPr id="14" name="Text 12"/>
          <p:cNvSpPr/>
          <p:nvPr/>
        </p:nvSpPr>
        <p:spPr>
          <a:xfrm>
            <a:off x="1828800" y="2203704"/>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21,700</a:t>
            </a:r>
            <a:endParaRPr lang="en-US" sz="1180" dirty="0"/>
          </a:p>
        </p:txBody>
      </p:sp>
      <p:sp>
        <p:nvSpPr>
          <p:cNvPr id="15" name="Text 13"/>
          <p:cNvSpPr/>
          <p:nvPr/>
        </p:nvSpPr>
        <p:spPr>
          <a:xfrm>
            <a:off x="3063240" y="2203704"/>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$21.52</a:t>
            </a:r>
            <a:endParaRPr lang="en-US" sz="1180" dirty="0"/>
          </a:p>
        </p:txBody>
      </p:sp>
      <p:sp>
        <p:nvSpPr>
          <p:cNvPr id="16" name="Text 14"/>
          <p:cNvSpPr/>
          <p:nvPr/>
        </p:nvSpPr>
        <p:spPr>
          <a:xfrm>
            <a:off x="4434840" y="2203704"/>
            <a:ext cx="146304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$467K</a:t>
            </a:r>
            <a:endParaRPr lang="en-US" sz="1180" dirty="0"/>
          </a:p>
        </p:txBody>
      </p:sp>
      <p:sp>
        <p:nvSpPr>
          <p:cNvPr id="17" name="Text 15"/>
          <p:cNvSpPr/>
          <p:nvPr/>
        </p:nvSpPr>
        <p:spPr>
          <a:xfrm>
            <a:off x="640080" y="2624328"/>
            <a:ext cx="134112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0 day</a:t>
            </a:r>
            <a:endParaRPr lang="en-US" sz="1180" dirty="0"/>
          </a:p>
        </p:txBody>
      </p:sp>
      <p:sp>
        <p:nvSpPr>
          <p:cNvPr id="18" name="Text 16"/>
          <p:cNvSpPr/>
          <p:nvPr/>
        </p:nvSpPr>
        <p:spPr>
          <a:xfrm>
            <a:off x="1828800" y="2624328"/>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38,410</a:t>
            </a:r>
            <a:endParaRPr lang="en-US" sz="1180" dirty="0"/>
          </a:p>
        </p:txBody>
      </p:sp>
      <p:sp>
        <p:nvSpPr>
          <p:cNvPr id="19" name="Text 17"/>
          <p:cNvSpPr/>
          <p:nvPr/>
        </p:nvSpPr>
        <p:spPr>
          <a:xfrm>
            <a:off x="3063240" y="2624328"/>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$22.04</a:t>
            </a:r>
            <a:endParaRPr lang="en-US" sz="1180" dirty="0"/>
          </a:p>
        </p:txBody>
      </p:sp>
      <p:sp>
        <p:nvSpPr>
          <p:cNvPr id="20" name="Text 18"/>
          <p:cNvSpPr/>
          <p:nvPr/>
        </p:nvSpPr>
        <p:spPr>
          <a:xfrm>
            <a:off x="4434840" y="2624328"/>
            <a:ext cx="146304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$847K</a:t>
            </a:r>
            <a:endParaRPr lang="en-US" sz="1180" dirty="0"/>
          </a:p>
        </p:txBody>
      </p:sp>
      <p:sp>
        <p:nvSpPr>
          <p:cNvPr id="21" name="Text 19"/>
          <p:cNvSpPr/>
          <p:nvPr/>
        </p:nvSpPr>
        <p:spPr>
          <a:xfrm>
            <a:off x="640080" y="3044952"/>
            <a:ext cx="1341120" cy="1285084"/>
          </a:xfrm>
          <a:prstGeom prst="rect">
            <a:avLst/>
          </a:prstGeom>
          <a:noFill/>
          <a:ln/>
        </p:spPr>
        <p:txBody>
          <a:bodyPr wrap="square" lIns="254" tIns="254" rIns="254" bIns="254" rtlCol="0" anchor="ctr">
            <a:normAutofit/>
          </a:bodyPr>
          <a:lstStyle/>
          <a:p>
            <a:pPr marL="0" indent="0">
              <a:buNone/>
            </a:pPr>
            <a:r>
              <a:rPr lang="en-US" sz="1180" b="1" dirty="0">
                <a:solidFill>
                  <a:srgbClr val="F2B705"/>
                </a:solidFill>
              </a:rPr>
              <a:t>1 day</a:t>
            </a:r>
            <a:endParaRPr lang="en-US" sz="1180" dirty="0"/>
          </a:p>
        </p:txBody>
      </p:sp>
      <p:sp>
        <p:nvSpPr>
          <p:cNvPr id="22" name="Text 20"/>
          <p:cNvSpPr/>
          <p:nvPr/>
        </p:nvSpPr>
        <p:spPr>
          <a:xfrm>
            <a:off x="1828800" y="3044952"/>
            <a:ext cx="1219200" cy="1285084"/>
          </a:xfrm>
          <a:prstGeom prst="rect">
            <a:avLst/>
          </a:prstGeom>
          <a:noFill/>
          <a:ln/>
        </p:spPr>
        <p:txBody>
          <a:bodyPr wrap="square" lIns="254" tIns="254" rIns="254" bIns="254" rtlCol="0" anchor="ctr">
            <a:normAutofit/>
          </a:bodyPr>
          <a:lstStyle/>
          <a:p>
            <a:pPr marL="0" indent="0">
              <a:buNone/>
            </a:pPr>
            <a:r>
              <a:rPr lang="en-US" sz="1180" b="1" dirty="0">
                <a:solidFill>
                  <a:srgbClr val="F2B705"/>
                </a:solidFill>
              </a:rPr>
              <a:t>55,990</a:t>
            </a:r>
            <a:endParaRPr lang="en-US" sz="1180" dirty="0"/>
          </a:p>
        </p:txBody>
      </p:sp>
      <p:sp>
        <p:nvSpPr>
          <p:cNvPr id="23" name="Text 21"/>
          <p:cNvSpPr/>
          <p:nvPr/>
        </p:nvSpPr>
        <p:spPr>
          <a:xfrm>
            <a:off x="3063240" y="3044952"/>
            <a:ext cx="1219200" cy="1285084"/>
          </a:xfrm>
          <a:prstGeom prst="rect">
            <a:avLst/>
          </a:prstGeom>
          <a:noFill/>
          <a:ln/>
        </p:spPr>
        <p:txBody>
          <a:bodyPr wrap="square" lIns="254" tIns="254" rIns="254" bIns="254" rtlCol="0" anchor="ctr">
            <a:normAutofit/>
          </a:bodyPr>
          <a:lstStyle/>
          <a:p>
            <a:pPr marL="0" indent="0">
              <a:buNone/>
            </a:pPr>
            <a:r>
              <a:rPr lang="en-US" sz="1180" b="1" dirty="0">
                <a:solidFill>
                  <a:srgbClr val="F2B705"/>
                </a:solidFill>
              </a:rPr>
              <a:t>$22.23</a:t>
            </a:r>
            <a:endParaRPr lang="en-US" sz="1180" dirty="0"/>
          </a:p>
        </p:txBody>
      </p:sp>
      <p:sp>
        <p:nvSpPr>
          <p:cNvPr id="24" name="Text 22"/>
          <p:cNvSpPr/>
          <p:nvPr/>
        </p:nvSpPr>
        <p:spPr>
          <a:xfrm>
            <a:off x="4434840" y="3044952"/>
            <a:ext cx="1463040" cy="1285084"/>
          </a:xfrm>
          <a:prstGeom prst="rect">
            <a:avLst/>
          </a:prstGeom>
          <a:noFill/>
          <a:ln/>
        </p:spPr>
        <p:txBody>
          <a:bodyPr wrap="square" lIns="254" tIns="254" rIns="254" bIns="254" rtlCol="0" anchor="ctr">
            <a:normAutofit/>
          </a:bodyPr>
          <a:lstStyle/>
          <a:p>
            <a:pPr marL="0" indent="0">
              <a:buNone/>
            </a:pPr>
            <a:r>
              <a:rPr lang="en-US" sz="1180" b="1" dirty="0">
                <a:solidFill>
                  <a:srgbClr val="F2B705"/>
                </a:solidFill>
              </a:rPr>
              <a:t>$1.24M</a:t>
            </a:r>
            <a:endParaRPr lang="en-US" sz="1180" dirty="0"/>
          </a:p>
        </p:txBody>
      </p:sp>
      <p:sp>
        <p:nvSpPr>
          <p:cNvPr id="25" name="Text 23"/>
          <p:cNvSpPr/>
          <p:nvPr/>
        </p:nvSpPr>
        <p:spPr>
          <a:xfrm>
            <a:off x="640080" y="3465576"/>
            <a:ext cx="134112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 days</a:t>
            </a:r>
            <a:endParaRPr lang="en-US" sz="1180" dirty="0"/>
          </a:p>
        </p:txBody>
      </p:sp>
      <p:sp>
        <p:nvSpPr>
          <p:cNvPr id="26" name="Text 24"/>
          <p:cNvSpPr/>
          <p:nvPr/>
        </p:nvSpPr>
        <p:spPr>
          <a:xfrm>
            <a:off x="1828800" y="3465576"/>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28,718</a:t>
            </a:r>
            <a:endParaRPr lang="en-US" sz="1180" dirty="0"/>
          </a:p>
        </p:txBody>
      </p:sp>
      <p:sp>
        <p:nvSpPr>
          <p:cNvPr id="27" name="Text 25"/>
          <p:cNvSpPr/>
          <p:nvPr/>
        </p:nvSpPr>
        <p:spPr>
          <a:xfrm>
            <a:off x="3063240" y="3465576"/>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$21.25</a:t>
            </a:r>
            <a:endParaRPr lang="en-US" sz="1180" dirty="0"/>
          </a:p>
        </p:txBody>
      </p:sp>
      <p:sp>
        <p:nvSpPr>
          <p:cNvPr id="28" name="Text 26"/>
          <p:cNvSpPr/>
          <p:nvPr/>
        </p:nvSpPr>
        <p:spPr>
          <a:xfrm>
            <a:off x="4434840" y="3465576"/>
            <a:ext cx="146304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$610K</a:t>
            </a:r>
            <a:endParaRPr lang="en-US" sz="1180" dirty="0"/>
          </a:p>
        </p:txBody>
      </p:sp>
      <p:sp>
        <p:nvSpPr>
          <p:cNvPr id="29" name="Text 27"/>
          <p:cNvSpPr/>
          <p:nvPr/>
        </p:nvSpPr>
        <p:spPr>
          <a:xfrm>
            <a:off x="640080" y="3886200"/>
            <a:ext cx="1341120" cy="1285084"/>
          </a:xfrm>
          <a:prstGeom prst="rect">
            <a:avLst/>
          </a:prstGeom>
          <a:noFill/>
          <a:ln/>
        </p:spPr>
        <p:txBody>
          <a:bodyPr wrap="square" lIns="254" tIns="254" rIns="254" bIns="254" rtlCol="0" anchor="ctr">
            <a:normAutofit/>
          </a:bodyPr>
          <a:lstStyle/>
          <a:p>
            <a:pPr marL="0" indent="0">
              <a:buNone/>
            </a:pPr>
            <a:r>
              <a:rPr lang="en-US" sz="1180" dirty="0">
                <a:solidFill>
                  <a:srgbClr val="C04D82"/>
                </a:solidFill>
              </a:rPr>
              <a:t>3 days</a:t>
            </a:r>
            <a:endParaRPr lang="en-US" sz="1180" dirty="0"/>
          </a:p>
        </p:txBody>
      </p:sp>
      <p:sp>
        <p:nvSpPr>
          <p:cNvPr id="30" name="Text 28"/>
          <p:cNvSpPr/>
          <p:nvPr/>
        </p:nvSpPr>
        <p:spPr>
          <a:xfrm>
            <a:off x="1828800" y="3886200"/>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C04D82"/>
                </a:solidFill>
              </a:rPr>
              <a:t>7,052</a:t>
            </a:r>
            <a:endParaRPr lang="en-US" sz="1180" dirty="0"/>
          </a:p>
        </p:txBody>
      </p:sp>
      <p:sp>
        <p:nvSpPr>
          <p:cNvPr id="31" name="Text 29"/>
          <p:cNvSpPr/>
          <p:nvPr/>
        </p:nvSpPr>
        <p:spPr>
          <a:xfrm>
            <a:off x="3063240" y="3886200"/>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C04D82"/>
                </a:solidFill>
              </a:rPr>
              <a:t>$19.94</a:t>
            </a:r>
            <a:endParaRPr lang="en-US" sz="1180" dirty="0"/>
          </a:p>
        </p:txBody>
      </p:sp>
      <p:sp>
        <p:nvSpPr>
          <p:cNvPr id="32" name="Text 30"/>
          <p:cNvSpPr/>
          <p:nvPr/>
        </p:nvSpPr>
        <p:spPr>
          <a:xfrm>
            <a:off x="4434840" y="3886200"/>
            <a:ext cx="1463040" cy="1285084"/>
          </a:xfrm>
          <a:prstGeom prst="rect">
            <a:avLst/>
          </a:prstGeom>
          <a:noFill/>
          <a:ln/>
        </p:spPr>
        <p:txBody>
          <a:bodyPr wrap="square" lIns="254" tIns="254" rIns="254" bIns="254" rtlCol="0" anchor="ctr">
            <a:normAutofit/>
          </a:bodyPr>
          <a:lstStyle/>
          <a:p>
            <a:pPr marL="0" indent="0">
              <a:buNone/>
            </a:pPr>
            <a:r>
              <a:rPr lang="en-US" sz="1180" dirty="0">
                <a:solidFill>
                  <a:srgbClr val="C04D82"/>
                </a:solidFill>
              </a:rPr>
              <a:t>$141K</a:t>
            </a:r>
            <a:endParaRPr lang="en-US" sz="1180" dirty="0"/>
          </a:p>
        </p:txBody>
      </p:sp>
      <p:sp>
        <p:nvSpPr>
          <p:cNvPr id="33" name="Text 31"/>
          <p:cNvSpPr/>
          <p:nvPr/>
        </p:nvSpPr>
        <p:spPr>
          <a:xfrm>
            <a:off x="640080" y="4306824"/>
            <a:ext cx="134112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4 days</a:t>
            </a:r>
            <a:endParaRPr lang="en-US" sz="1180" dirty="0"/>
          </a:p>
        </p:txBody>
      </p:sp>
      <p:sp>
        <p:nvSpPr>
          <p:cNvPr id="34" name="Text 32"/>
          <p:cNvSpPr/>
          <p:nvPr/>
        </p:nvSpPr>
        <p:spPr>
          <a:xfrm>
            <a:off x="1828800" y="4306824"/>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6,983</a:t>
            </a:r>
            <a:endParaRPr lang="en-US" sz="1180" dirty="0"/>
          </a:p>
        </p:txBody>
      </p:sp>
      <p:sp>
        <p:nvSpPr>
          <p:cNvPr id="35" name="Text 33"/>
          <p:cNvSpPr/>
          <p:nvPr/>
        </p:nvSpPr>
        <p:spPr>
          <a:xfrm>
            <a:off x="3063240" y="4306824"/>
            <a:ext cx="121920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$21.56</a:t>
            </a:r>
            <a:endParaRPr lang="en-US" sz="1180" dirty="0"/>
          </a:p>
        </p:txBody>
      </p:sp>
      <p:sp>
        <p:nvSpPr>
          <p:cNvPr id="36" name="Text 34"/>
          <p:cNvSpPr/>
          <p:nvPr/>
        </p:nvSpPr>
        <p:spPr>
          <a:xfrm>
            <a:off x="4434840" y="4306824"/>
            <a:ext cx="1463040" cy="1285084"/>
          </a:xfrm>
          <a:prstGeom prst="rect">
            <a:avLst/>
          </a:prstGeom>
          <a:noFill/>
          <a:ln/>
        </p:spPr>
        <p:txBody>
          <a:bodyPr wrap="square" lIns="254" tIns="254" rIns="254" bIns="254" rtlCol="0" anchor="ctr">
            <a:normAutofit/>
          </a:bodyPr>
          <a:lstStyle/>
          <a:p>
            <a:pPr marL="0" indent="0">
              <a:buNone/>
            </a:pPr>
            <a:r>
              <a:rPr lang="en-US" sz="1180" dirty="0">
                <a:solidFill>
                  <a:srgbClr val="F5F7FB"/>
                </a:solidFill>
              </a:rPr>
              <a:t>$151K</a:t>
            </a:r>
            <a:endParaRPr lang="en-US" sz="1180" dirty="0"/>
          </a:p>
        </p:txBody>
      </p:sp>
      <p:sp>
        <p:nvSpPr>
          <p:cNvPr id="37" name="Text 35"/>
          <p:cNvSpPr/>
          <p:nvPr/>
        </p:nvSpPr>
        <p:spPr>
          <a:xfrm>
            <a:off x="6583680" y="1325880"/>
            <a:ext cx="274320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What this means</a:t>
            </a:r>
            <a:endParaRPr lang="en-US" sz="1400" dirty="0"/>
          </a:p>
        </p:txBody>
      </p:sp>
      <p:sp>
        <p:nvSpPr>
          <p:cNvPr id="38" name="Text 36"/>
          <p:cNvSpPr/>
          <p:nvPr/>
        </p:nvSpPr>
        <p:spPr>
          <a:xfrm>
            <a:off x="6583680" y="1755648"/>
            <a:ext cx="4389120" cy="777240"/>
          </a:xfrm>
          <a:prstGeom prst="rect">
            <a:avLst/>
          </a:prstGeom>
          <a:noFill/>
          <a:ln/>
        </p:spPr>
        <p:txBody>
          <a:bodyPr wrap="square" lIns="254" tIns="254" rIns="254" bIns="254" rtlCol="0" anchor="ctr">
            <a:normAutofit/>
          </a:bodyPr>
          <a:lstStyle/>
          <a:p>
            <a:pPr marL="0" indent="0">
              <a:buNone/>
            </a:pPr>
            <a:r>
              <a:rPr lang="en-US" sz="1600" dirty="0">
                <a:solidFill>
                  <a:srgbClr val="F5F7FB"/>
                </a:solidFill>
              </a:rPr>
              <a:t>The 1-day delay group should be treated as the control point. It contains the biggest volume and the biggest preventable trust risk.</a:t>
            </a:r>
            <a:endParaRPr lang="en-US" sz="1600" dirty="0"/>
          </a:p>
        </p:txBody>
      </p:sp>
      <p:sp>
        <p:nvSpPr>
          <p:cNvPr id="39" name="Text 37"/>
          <p:cNvSpPr/>
          <p:nvPr/>
        </p:nvSpPr>
        <p:spPr>
          <a:xfrm>
            <a:off x="6583680" y="2852928"/>
            <a:ext cx="4389120" cy="777240"/>
          </a:xfrm>
          <a:prstGeom prst="rect">
            <a:avLst/>
          </a:prstGeom>
          <a:noFill/>
          <a:ln/>
        </p:spPr>
        <p:txBody>
          <a:bodyPr wrap="square" lIns="254" tIns="254" rIns="254" bIns="254" rtlCol="0" anchor="ctr">
            <a:normAutofit/>
          </a:bodyPr>
          <a:lstStyle/>
          <a:p>
            <a:pPr marL="0" indent="0">
              <a:buNone/>
            </a:pPr>
            <a:r>
              <a:rPr lang="en-US" sz="1600" dirty="0">
                <a:solidFill>
                  <a:srgbClr val="F5F7FB"/>
                </a:solidFill>
              </a:rPr>
              <a:t>Severe delays should be treated as margin leakage. At 3 days, average profit is the weakest among all delay states.</a:t>
            </a:r>
            <a:endParaRPr lang="en-US" sz="1600" dirty="0"/>
          </a:p>
        </p:txBody>
      </p:sp>
      <p:sp>
        <p:nvSpPr>
          <p:cNvPr id="40" name="Text 38"/>
          <p:cNvSpPr/>
          <p:nvPr/>
        </p:nvSpPr>
        <p:spPr>
          <a:xfrm>
            <a:off x="6606540" y="4302604"/>
            <a:ext cx="4343400" cy="868680"/>
          </a:xfrm>
          <a:prstGeom prst="rect">
            <a:avLst/>
          </a:prstGeom>
          <a:solidFill>
            <a:srgbClr val="0F253C"/>
          </a:solidFill>
          <a:ln w="13970">
            <a:solidFill>
              <a:srgbClr val="C04D82">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Decision rule: prevent 1-day delays from becoming 2+ days, and escalate 3+ day risk before fulfillment handoff.</a:t>
            </a:r>
            <a:endParaRPr lang="en-US" sz="1250" dirty="0"/>
          </a:p>
        </p:txBody>
      </p:sp>
      <p:sp>
        <p:nvSpPr>
          <p:cNvPr id="42" name="Text 39"/>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43" name="Text 40"/>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Where delays concentrate across the operation</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The delay rate is broad across segments, but sharper in specific regions, modes, and departments.</a:t>
            </a:r>
            <a:endParaRPr lang="en-US" sz="1050" dirty="0"/>
          </a:p>
        </p:txBody>
      </p:sp>
      <p:pic>
        <p:nvPicPr>
          <p:cNvPr id="4" name="Image 0" descr="/mnt/data/Detailed breakdown.jpg"/>
          <p:cNvPicPr>
            <a:picLocks noChangeAspect="1"/>
          </p:cNvPicPr>
          <p:nvPr/>
        </p:nvPicPr>
        <p:blipFill>
          <a:blip r:embed="rId3"/>
          <a:stretch>
            <a:fillRect/>
          </a:stretch>
        </p:blipFill>
        <p:spPr>
          <a:xfrm>
            <a:off x="562194" y="1024128"/>
            <a:ext cx="11082852" cy="4892040"/>
          </a:xfrm>
          <a:prstGeom prst="rect">
            <a:avLst/>
          </a:prstGeom>
        </p:spPr>
      </p:pic>
      <p:sp>
        <p:nvSpPr>
          <p:cNvPr id="5" name="Text 2"/>
          <p:cNvSpPr/>
          <p:nvPr/>
        </p:nvSpPr>
        <p:spPr>
          <a:xfrm>
            <a:off x="822960" y="6080760"/>
            <a:ext cx="9875520" cy="402336"/>
          </a:xfrm>
          <a:prstGeom prst="rect">
            <a:avLst/>
          </a:prstGeom>
          <a:solidFill>
            <a:srgbClr val="0F253C"/>
          </a:solidFill>
          <a:ln w="13970">
            <a:solidFill>
              <a:srgbClr val="F2B705">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Central Africa leads regional delay at 59.3%, while customer segments stay close around 54.5% to 55.3%. The problem is more operational than customer-type driven.</a:t>
            </a:r>
            <a:endParaRPr lang="en-US" sz="1250" dirty="0"/>
          </a:p>
        </p:txBody>
      </p:sp>
      <p:sp>
        <p:nvSpPr>
          <p:cNvPr id="8" name="Text 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Premium shipping is the biggest red flag</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The modes that should signal speed are showing the highest delay rates.</a:t>
            </a:r>
            <a:endParaRPr lang="en-US" sz="1050" dirty="0"/>
          </a:p>
        </p:txBody>
      </p:sp>
      <p:sp>
        <p:nvSpPr>
          <p:cNvPr id="4" name="Text 2"/>
          <p:cNvSpPr/>
          <p:nvPr/>
        </p:nvSpPr>
        <p:spPr>
          <a:xfrm>
            <a:off x="685800" y="1325880"/>
            <a:ext cx="2743200" cy="411480"/>
          </a:xfrm>
          <a:prstGeom prst="rect">
            <a:avLst/>
          </a:prstGeom>
          <a:noFill/>
          <a:ln/>
        </p:spPr>
        <p:txBody>
          <a:bodyPr wrap="square" lIns="0" tIns="0" rIns="0" bIns="0" rtlCol="0" anchor="ctr">
            <a:normAutofit fontScale="92500" lnSpcReduction="10000"/>
          </a:bodyPr>
          <a:lstStyle/>
          <a:p>
            <a:pPr marL="0" indent="0">
              <a:buNone/>
            </a:pPr>
            <a:r>
              <a:rPr lang="en-US" sz="3200" b="1" dirty="0">
                <a:solidFill>
                  <a:srgbClr val="C04D82"/>
                </a:solidFill>
                <a:latin typeface="Aptos Display" pitchFamily="34" charset="0"/>
                <a:ea typeface="Aptos Display" pitchFamily="34" charset="-122"/>
                <a:cs typeface="Aptos Display" pitchFamily="34" charset="-120"/>
              </a:rPr>
              <a:t>100.0%</a:t>
            </a:r>
            <a:endParaRPr lang="en-US" sz="3200" dirty="0"/>
          </a:p>
        </p:txBody>
      </p:sp>
      <p:sp>
        <p:nvSpPr>
          <p:cNvPr id="5" name="Text 3"/>
          <p:cNvSpPr/>
          <p:nvPr/>
        </p:nvSpPr>
        <p:spPr>
          <a:xfrm>
            <a:off x="685800" y="1801368"/>
            <a:ext cx="274320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First Class delay rate</a:t>
            </a:r>
            <a:endParaRPr lang="en-US" sz="1020" dirty="0"/>
          </a:p>
        </p:txBody>
      </p:sp>
      <p:sp>
        <p:nvSpPr>
          <p:cNvPr id="6" name="Text 4"/>
          <p:cNvSpPr/>
          <p:nvPr/>
        </p:nvSpPr>
        <p:spPr>
          <a:xfrm>
            <a:off x="3657600" y="1325880"/>
            <a:ext cx="2743200" cy="411480"/>
          </a:xfrm>
          <a:prstGeom prst="rect">
            <a:avLst/>
          </a:prstGeom>
          <a:noFill/>
          <a:ln/>
        </p:spPr>
        <p:txBody>
          <a:bodyPr wrap="square" lIns="0" tIns="0" rIns="0" bIns="0" rtlCol="0" anchor="ctr">
            <a:normAutofit fontScale="92500" lnSpcReduction="10000"/>
          </a:bodyPr>
          <a:lstStyle/>
          <a:p>
            <a:pPr marL="0" indent="0">
              <a:buNone/>
            </a:pPr>
            <a:r>
              <a:rPr lang="en-US" sz="3200" b="1" dirty="0">
                <a:solidFill>
                  <a:srgbClr val="E59F3D"/>
                </a:solidFill>
                <a:latin typeface="Aptos Display" pitchFamily="34" charset="0"/>
                <a:ea typeface="Aptos Display" pitchFamily="34" charset="-122"/>
                <a:cs typeface="Aptos Display" pitchFamily="34" charset="-120"/>
              </a:rPr>
              <a:t>79.7%</a:t>
            </a:r>
            <a:endParaRPr lang="en-US" sz="3200" dirty="0"/>
          </a:p>
        </p:txBody>
      </p:sp>
      <p:sp>
        <p:nvSpPr>
          <p:cNvPr id="7" name="Text 5"/>
          <p:cNvSpPr/>
          <p:nvPr/>
        </p:nvSpPr>
        <p:spPr>
          <a:xfrm>
            <a:off x="3657600" y="1801368"/>
            <a:ext cx="274320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Second Class delay rate</a:t>
            </a:r>
            <a:endParaRPr lang="en-US" sz="1020" dirty="0"/>
          </a:p>
        </p:txBody>
      </p:sp>
      <p:sp>
        <p:nvSpPr>
          <p:cNvPr id="8" name="Text 6"/>
          <p:cNvSpPr/>
          <p:nvPr/>
        </p:nvSpPr>
        <p:spPr>
          <a:xfrm>
            <a:off x="6629400" y="1325880"/>
            <a:ext cx="2743200" cy="411480"/>
          </a:xfrm>
          <a:prstGeom prst="rect">
            <a:avLst/>
          </a:prstGeom>
          <a:noFill/>
          <a:ln/>
        </p:spPr>
        <p:txBody>
          <a:bodyPr wrap="square" lIns="0" tIns="0" rIns="0" bIns="0" rtlCol="0" anchor="ctr">
            <a:normAutofit fontScale="92500" lnSpcReduction="10000"/>
          </a:bodyPr>
          <a:lstStyle/>
          <a:p>
            <a:pPr marL="0" indent="0">
              <a:buNone/>
            </a:pPr>
            <a:r>
              <a:rPr lang="en-US" sz="3200" b="1" dirty="0">
                <a:solidFill>
                  <a:srgbClr val="2CA58D"/>
                </a:solidFill>
                <a:latin typeface="Aptos Display" pitchFamily="34" charset="0"/>
                <a:ea typeface="Aptos Display" pitchFamily="34" charset="-122"/>
                <a:cs typeface="Aptos Display" pitchFamily="34" charset="-120"/>
              </a:rPr>
              <a:t>39.8%</a:t>
            </a:r>
            <a:endParaRPr lang="en-US" sz="3200" dirty="0"/>
          </a:p>
        </p:txBody>
      </p:sp>
      <p:sp>
        <p:nvSpPr>
          <p:cNvPr id="9" name="Text 7"/>
          <p:cNvSpPr/>
          <p:nvPr/>
        </p:nvSpPr>
        <p:spPr>
          <a:xfrm>
            <a:off x="6629400" y="1801368"/>
            <a:ext cx="274320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Standard Class delay rate</a:t>
            </a:r>
            <a:endParaRPr lang="en-US" sz="1020" dirty="0"/>
          </a:p>
        </p:txBody>
      </p:sp>
      <p:sp>
        <p:nvSpPr>
          <p:cNvPr id="10" name="Text 8"/>
          <p:cNvSpPr/>
          <p:nvPr/>
        </p:nvSpPr>
        <p:spPr>
          <a:xfrm>
            <a:off x="685800" y="2743200"/>
            <a:ext cx="2377440" cy="310896"/>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Why this matters</a:t>
            </a:r>
            <a:endParaRPr lang="en-US" sz="1400" dirty="0"/>
          </a:p>
        </p:txBody>
      </p:sp>
      <p:sp>
        <p:nvSpPr>
          <p:cNvPr id="11" name="Text 9"/>
          <p:cNvSpPr/>
          <p:nvPr/>
        </p:nvSpPr>
        <p:spPr>
          <a:xfrm>
            <a:off x="685800" y="3127248"/>
            <a:ext cx="5029200" cy="914400"/>
          </a:xfrm>
          <a:prstGeom prst="rect">
            <a:avLst/>
          </a:prstGeom>
          <a:noFill/>
          <a:ln/>
        </p:spPr>
        <p:txBody>
          <a:bodyPr wrap="square" lIns="254" tIns="254" rIns="254" bIns="254" rtlCol="0" anchor="ctr">
            <a:normAutofit lnSpcReduction="10000"/>
          </a:bodyPr>
          <a:lstStyle/>
          <a:p>
            <a:pPr marL="0" indent="0">
              <a:buNone/>
            </a:pPr>
            <a:r>
              <a:rPr lang="en-US" sz="1600" dirty="0">
                <a:solidFill>
                  <a:srgbClr val="F5F7FB"/>
                </a:solidFill>
              </a:rPr>
              <a:t>If premium modes carry high delay rates, the company is likely overpromising, under-routing, or allocating premium capacity poorly. This creates a brand risk beyond the logistics metric.</a:t>
            </a:r>
            <a:endParaRPr lang="en-US" sz="1600" dirty="0"/>
          </a:p>
        </p:txBody>
      </p:sp>
      <p:sp>
        <p:nvSpPr>
          <p:cNvPr id="12" name="Text 10"/>
          <p:cNvSpPr/>
          <p:nvPr/>
        </p:nvSpPr>
        <p:spPr>
          <a:xfrm>
            <a:off x="6309360" y="2743200"/>
            <a:ext cx="2560320" cy="310896"/>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Operational interpretation</a:t>
            </a:r>
            <a:endParaRPr lang="en-US" sz="1400" dirty="0"/>
          </a:p>
        </p:txBody>
      </p:sp>
      <p:sp>
        <p:nvSpPr>
          <p:cNvPr id="13" name="Text 11"/>
          <p:cNvSpPr/>
          <p:nvPr/>
        </p:nvSpPr>
        <p:spPr>
          <a:xfrm>
            <a:off x="6309360" y="3127248"/>
            <a:ext cx="4663440" cy="914400"/>
          </a:xfrm>
          <a:prstGeom prst="rect">
            <a:avLst/>
          </a:prstGeom>
          <a:noFill/>
          <a:ln/>
        </p:spPr>
        <p:txBody>
          <a:bodyPr wrap="square" lIns="254" tIns="254" rIns="254" bIns="254" rtlCol="0" anchor="ctr">
            <a:normAutofit lnSpcReduction="10000"/>
          </a:bodyPr>
          <a:lstStyle/>
          <a:p>
            <a:pPr marL="0" indent="0">
              <a:buNone/>
            </a:pPr>
            <a:r>
              <a:rPr lang="en-US" sz="1600" dirty="0">
                <a:solidFill>
                  <a:srgbClr val="F5F7FB"/>
                </a:solidFill>
              </a:rPr>
              <a:t>Premium shipping should be audited by region, fulfillment node, carrier, cut-off time, and payment clearance status before any pricing or promise expansion.</a:t>
            </a:r>
            <a:endParaRPr lang="en-US" sz="1600" dirty="0"/>
          </a:p>
        </p:txBody>
      </p:sp>
      <p:sp>
        <p:nvSpPr>
          <p:cNvPr id="14" name="Text 12"/>
          <p:cNvSpPr/>
          <p:nvPr/>
        </p:nvSpPr>
        <p:spPr>
          <a:xfrm>
            <a:off x="1828800" y="5371513"/>
            <a:ext cx="7955280" cy="685800"/>
          </a:xfrm>
          <a:prstGeom prst="rect">
            <a:avLst/>
          </a:prstGeom>
          <a:solidFill>
            <a:srgbClr val="0F253C"/>
          </a:solidFill>
          <a:ln w="13970">
            <a:solidFill>
              <a:srgbClr val="C04D82">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Recommendation: </a:t>
            </a:r>
            <a:endParaRPr lang="en-US" sz="1250" dirty="0" smtClean="0">
              <a:solidFill>
                <a:srgbClr val="F5F7FB"/>
              </a:solidFill>
            </a:endParaRPr>
          </a:p>
          <a:p>
            <a:pPr marL="0" indent="0" algn="ctr">
              <a:buNone/>
            </a:pPr>
            <a:r>
              <a:rPr lang="en-US" sz="1250" dirty="0">
                <a:solidFill>
                  <a:srgbClr val="F5F7FB"/>
                </a:solidFill>
              </a:rPr>
              <a:t>P</a:t>
            </a:r>
            <a:r>
              <a:rPr lang="en-US" sz="1250" dirty="0" smtClean="0">
                <a:solidFill>
                  <a:srgbClr val="F5F7FB"/>
                </a:solidFill>
              </a:rPr>
              <a:t>ause </a:t>
            </a:r>
            <a:r>
              <a:rPr lang="en-US" sz="1250" dirty="0">
                <a:solidFill>
                  <a:srgbClr val="F5F7FB"/>
                </a:solidFill>
              </a:rPr>
              <a:t>expansion of First Class promises until SLA compliance improves in the highest-risk lanes.</a:t>
            </a:r>
            <a:endParaRPr lang="en-US" sz="1250" dirty="0"/>
          </a:p>
        </p:txBody>
      </p:sp>
      <p:sp>
        <p:nvSpPr>
          <p:cNvPr id="17" name="Text 1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fontScale="92500"/>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Time patterns reveal when the operation is weakest</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Delay risk changes by month, day, and hour, which means staffing and queue timing matter.</a:t>
            </a:r>
            <a:endParaRPr lang="en-US" sz="1050" dirty="0"/>
          </a:p>
        </p:txBody>
      </p:sp>
      <p:pic>
        <p:nvPicPr>
          <p:cNvPr id="4" name="Image 0" descr="/mnt/data/Time based analysis.jpg"/>
          <p:cNvPicPr>
            <a:picLocks noChangeAspect="1"/>
          </p:cNvPicPr>
          <p:nvPr/>
        </p:nvPicPr>
        <p:blipFill>
          <a:blip r:embed="rId3"/>
          <a:stretch>
            <a:fillRect/>
          </a:stretch>
        </p:blipFill>
        <p:spPr>
          <a:xfrm>
            <a:off x="457200" y="1095092"/>
            <a:ext cx="11201400" cy="4484936"/>
          </a:xfrm>
          <a:prstGeom prst="rect">
            <a:avLst/>
          </a:prstGeom>
        </p:spPr>
      </p:pic>
      <p:sp>
        <p:nvSpPr>
          <p:cNvPr id="5" name="Text 2"/>
          <p:cNvSpPr/>
          <p:nvPr/>
        </p:nvSpPr>
        <p:spPr>
          <a:xfrm>
            <a:off x="914400" y="5925312"/>
            <a:ext cx="9509760" cy="420624"/>
          </a:xfrm>
          <a:prstGeom prst="rect">
            <a:avLst/>
          </a:prstGeom>
          <a:solidFill>
            <a:srgbClr val="0F253C"/>
          </a:solidFill>
          <a:ln w="13970">
            <a:solidFill>
              <a:srgbClr val="F2B705">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December peaks at 55.5%, Monday at 55.7%, and hour 20 at 57.3%. These windows should drive capacity planning and exception review coverage.</a:t>
            </a:r>
            <a:endParaRPr lang="en-US" sz="1250" dirty="0"/>
          </a:p>
        </p:txBody>
      </p:sp>
      <p:sp>
        <p:nvSpPr>
          <p:cNvPr id="8" name="Text 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fontScale="92500"/>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Central Africa deep dive: the clearest intervention zone</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A focused regional pilot can prove whether delay prevention creates measurable improvement.</a:t>
            </a:r>
            <a:endParaRPr lang="en-US" sz="1050" dirty="0"/>
          </a:p>
        </p:txBody>
      </p:sp>
      <p:pic>
        <p:nvPicPr>
          <p:cNvPr id="4" name="Image 0" descr="/mnt/data/Top drivers_page-0001.jpg"/>
          <p:cNvPicPr>
            <a:picLocks noChangeAspect="1"/>
          </p:cNvPicPr>
          <p:nvPr/>
        </p:nvPicPr>
        <p:blipFill>
          <a:blip r:embed="rId3"/>
          <a:stretch>
            <a:fillRect/>
          </a:stretch>
        </p:blipFill>
        <p:spPr>
          <a:xfrm>
            <a:off x="2218785" y="1172308"/>
            <a:ext cx="7723950" cy="4443046"/>
          </a:xfrm>
          <a:prstGeom prst="rect">
            <a:avLst/>
          </a:prstGeom>
        </p:spPr>
      </p:pic>
      <p:sp>
        <p:nvSpPr>
          <p:cNvPr id="5" name="Text 2"/>
          <p:cNvSpPr/>
          <p:nvPr/>
        </p:nvSpPr>
        <p:spPr>
          <a:xfrm>
            <a:off x="1188720" y="5779008"/>
            <a:ext cx="9509760" cy="438912"/>
          </a:xfrm>
          <a:prstGeom prst="rect">
            <a:avLst/>
          </a:prstGeom>
          <a:solidFill>
            <a:srgbClr val="0F253C"/>
          </a:solidFill>
          <a:ln w="13970">
            <a:solidFill>
              <a:srgbClr val="C04D82">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In Central Africa, First Class, Second Class, suspected fraud, payment review, canceled, and pending statuses dominate the late-delivery risk profile.</a:t>
            </a:r>
            <a:endParaRPr lang="en-US" sz="1250" dirty="0"/>
          </a:p>
        </p:txBody>
      </p:sp>
      <p:sp>
        <p:nvSpPr>
          <p:cNvPr id="7" name="Text 3"/>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8" name="Text 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fontScale="85000" lnSpcReduction="10000"/>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Profitability is strong, but the loss pool is too large to ignore</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The company has a profitable base, yet nearly one in five orders is loss-making.</a:t>
            </a:r>
            <a:endParaRPr lang="en-US" sz="1050" dirty="0"/>
          </a:p>
        </p:txBody>
      </p:sp>
      <p:pic>
        <p:nvPicPr>
          <p:cNvPr id="4" name="Image 0" descr="/mnt/data/Pie.jpg"/>
          <p:cNvPicPr>
            <a:picLocks noChangeAspect="1"/>
          </p:cNvPicPr>
          <p:nvPr/>
        </p:nvPicPr>
        <p:blipFill>
          <a:blip r:embed="rId3"/>
          <a:stretch>
            <a:fillRect/>
          </a:stretch>
        </p:blipFill>
        <p:spPr>
          <a:xfrm>
            <a:off x="713232" y="1128399"/>
            <a:ext cx="4389120" cy="4153146"/>
          </a:xfrm>
          <a:prstGeom prst="rect">
            <a:avLst/>
          </a:prstGeom>
        </p:spPr>
      </p:pic>
      <p:sp>
        <p:nvSpPr>
          <p:cNvPr id="5" name="Text 2"/>
          <p:cNvSpPr/>
          <p:nvPr/>
        </p:nvSpPr>
        <p:spPr>
          <a:xfrm>
            <a:off x="5669280" y="1325880"/>
            <a:ext cx="233172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F2B705"/>
                </a:solidFill>
                <a:latin typeface="Aptos Display" pitchFamily="34" charset="0"/>
                <a:ea typeface="Aptos Display" pitchFamily="34" charset="-122"/>
                <a:cs typeface="Aptos Display" pitchFamily="34" charset="-120"/>
              </a:rPr>
              <a:t>145,558</a:t>
            </a:r>
            <a:endParaRPr lang="en-US" sz="3000" dirty="0"/>
          </a:p>
        </p:txBody>
      </p:sp>
      <p:sp>
        <p:nvSpPr>
          <p:cNvPr id="6" name="Text 3"/>
          <p:cNvSpPr/>
          <p:nvPr/>
        </p:nvSpPr>
        <p:spPr>
          <a:xfrm>
            <a:off x="5669280" y="1801368"/>
            <a:ext cx="233172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profitable orders</a:t>
            </a:r>
            <a:endParaRPr lang="en-US" sz="1020" dirty="0"/>
          </a:p>
        </p:txBody>
      </p:sp>
      <p:sp>
        <p:nvSpPr>
          <p:cNvPr id="7" name="Text 4"/>
          <p:cNvSpPr/>
          <p:nvPr/>
        </p:nvSpPr>
        <p:spPr>
          <a:xfrm>
            <a:off x="8458200" y="1325880"/>
            <a:ext cx="242316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C04D82"/>
                </a:solidFill>
                <a:latin typeface="Aptos Display" pitchFamily="34" charset="0"/>
                <a:ea typeface="Aptos Display" pitchFamily="34" charset="-122"/>
                <a:cs typeface="Aptos Display" pitchFamily="34" charset="-120"/>
              </a:rPr>
              <a:t>33,784</a:t>
            </a:r>
            <a:endParaRPr lang="en-US" sz="3000" dirty="0"/>
          </a:p>
        </p:txBody>
      </p:sp>
      <p:sp>
        <p:nvSpPr>
          <p:cNvPr id="8" name="Text 5"/>
          <p:cNvSpPr/>
          <p:nvPr/>
        </p:nvSpPr>
        <p:spPr>
          <a:xfrm>
            <a:off x="8458200" y="1801368"/>
            <a:ext cx="242316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loss-making orders</a:t>
            </a:r>
            <a:endParaRPr lang="en-US" sz="1020" dirty="0"/>
          </a:p>
        </p:txBody>
      </p:sp>
      <p:sp>
        <p:nvSpPr>
          <p:cNvPr id="9" name="Text 6"/>
          <p:cNvSpPr/>
          <p:nvPr/>
        </p:nvSpPr>
        <p:spPr>
          <a:xfrm>
            <a:off x="5669280" y="2971800"/>
            <a:ext cx="2331720" cy="411480"/>
          </a:xfrm>
          <a:prstGeom prst="rect">
            <a:avLst/>
          </a:prstGeom>
          <a:noFill/>
          <a:ln/>
        </p:spPr>
        <p:txBody>
          <a:bodyPr wrap="square" lIns="0" tIns="0" rIns="0" bIns="0" rtlCol="0" anchor="ctr">
            <a:normAutofit lnSpcReduction="10000"/>
          </a:bodyPr>
          <a:lstStyle/>
          <a:p>
            <a:pPr marL="0" indent="0">
              <a:buNone/>
            </a:pPr>
            <a:r>
              <a:rPr lang="en-US" sz="3000" b="1" dirty="0">
                <a:solidFill>
                  <a:srgbClr val="B8C0CC"/>
                </a:solidFill>
                <a:latin typeface="Aptos Display" pitchFamily="34" charset="0"/>
                <a:ea typeface="Aptos Display" pitchFamily="34" charset="-122"/>
                <a:cs typeface="Aptos Display" pitchFamily="34" charset="-120"/>
              </a:rPr>
              <a:t>1,177</a:t>
            </a:r>
            <a:endParaRPr lang="en-US" sz="3000" dirty="0"/>
          </a:p>
        </p:txBody>
      </p:sp>
      <p:sp>
        <p:nvSpPr>
          <p:cNvPr id="10" name="Text 7"/>
          <p:cNvSpPr/>
          <p:nvPr/>
        </p:nvSpPr>
        <p:spPr>
          <a:xfrm>
            <a:off x="5669280" y="3447288"/>
            <a:ext cx="233172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breakeven orders</a:t>
            </a:r>
            <a:endParaRPr lang="en-US" sz="1020" dirty="0"/>
          </a:p>
        </p:txBody>
      </p:sp>
      <p:sp>
        <p:nvSpPr>
          <p:cNvPr id="11" name="Text 8"/>
          <p:cNvSpPr/>
          <p:nvPr/>
        </p:nvSpPr>
        <p:spPr>
          <a:xfrm>
            <a:off x="5669280" y="4389120"/>
            <a:ext cx="3108960" cy="274320"/>
          </a:xfrm>
          <a:prstGeom prst="rect">
            <a:avLst/>
          </a:prstGeom>
          <a:noFill/>
          <a:ln/>
        </p:spPr>
        <p:txBody>
          <a:bodyPr wrap="square" lIns="254" tIns="254" rIns="254" bIns="254" rtlCol="0" anchor="ctr">
            <a:normAutofit/>
          </a:bodyPr>
          <a:lstStyle/>
          <a:p>
            <a:pPr marL="0" indent="0">
              <a:buNone/>
            </a:pPr>
            <a:r>
              <a:rPr lang="en-US" sz="1350" b="1" dirty="0">
                <a:solidFill>
                  <a:srgbClr val="F2B705"/>
                </a:solidFill>
              </a:rPr>
              <a:t>Management implication</a:t>
            </a:r>
            <a:endParaRPr lang="en-US" sz="1350" dirty="0"/>
          </a:p>
        </p:txBody>
      </p:sp>
      <p:sp>
        <p:nvSpPr>
          <p:cNvPr id="12" name="Text 9"/>
          <p:cNvSpPr/>
          <p:nvPr/>
        </p:nvSpPr>
        <p:spPr>
          <a:xfrm>
            <a:off x="5669280" y="4696329"/>
            <a:ext cx="4297680" cy="585216"/>
          </a:xfrm>
          <a:prstGeom prst="rect">
            <a:avLst/>
          </a:prstGeom>
          <a:noFill/>
          <a:ln/>
        </p:spPr>
        <p:txBody>
          <a:bodyPr wrap="square" lIns="254" tIns="254" rIns="254" bIns="254" rtlCol="0" anchor="ctr">
            <a:normAutofit fontScale="92500"/>
          </a:bodyPr>
          <a:lstStyle/>
          <a:p>
            <a:pPr marL="0" indent="0">
              <a:buNone/>
            </a:pPr>
            <a:r>
              <a:rPr lang="en-US" sz="1550" dirty="0">
                <a:solidFill>
                  <a:srgbClr val="F5F7FB"/>
                </a:solidFill>
              </a:rPr>
              <a:t>Delay action should be linked to expected margin. Not every order deserves the same intervention cost.</a:t>
            </a:r>
            <a:endParaRPr lang="en-US" sz="1550" dirty="0"/>
          </a:p>
        </p:txBody>
      </p:sp>
      <p:sp>
        <p:nvSpPr>
          <p:cNvPr id="13" name="Text 10"/>
          <p:cNvSpPr/>
          <p:nvPr/>
        </p:nvSpPr>
        <p:spPr>
          <a:xfrm>
            <a:off x="1051560" y="5833872"/>
            <a:ext cx="9692640" cy="493776"/>
          </a:xfrm>
          <a:prstGeom prst="rect">
            <a:avLst/>
          </a:prstGeom>
          <a:solidFill>
            <a:srgbClr val="0F253C"/>
          </a:solidFill>
          <a:ln w="13970">
            <a:solidFill>
              <a:srgbClr val="F2B705">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Use predicted delay risk plus predicted margin to decide when to expedite, re-route, adjust promise, or hold for manual review.</a:t>
            </a:r>
            <a:endParaRPr lang="en-US" sz="1250" dirty="0"/>
          </a:p>
        </p:txBody>
      </p:sp>
      <p:sp>
        <p:nvSpPr>
          <p:cNvPr id="15" name="Text 11"/>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16" name="Text 12"/>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fontScale="92500"/>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Action strategy: move from reporting to intervention</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Recommendations are grouped by where the business can change outcomes fastest.</a:t>
            </a:r>
            <a:endParaRPr lang="en-US" sz="1050" dirty="0"/>
          </a:p>
        </p:txBody>
      </p:sp>
      <p:sp>
        <p:nvSpPr>
          <p:cNvPr id="4" name="Text 2"/>
          <p:cNvSpPr/>
          <p:nvPr/>
        </p:nvSpPr>
        <p:spPr>
          <a:xfrm>
            <a:off x="548640" y="1097280"/>
            <a:ext cx="2011680" cy="201168"/>
          </a:xfrm>
          <a:prstGeom prst="rect">
            <a:avLst/>
          </a:prstGeom>
          <a:noFill/>
          <a:ln/>
        </p:spPr>
        <p:txBody>
          <a:bodyPr wrap="square" lIns="0" tIns="0" rIns="0" bIns="0" rtlCol="0" anchor="ctr"/>
          <a:lstStyle/>
          <a:p>
            <a:pPr marL="0" indent="0">
              <a:buNone/>
            </a:pPr>
            <a:r>
              <a:rPr lang="en-US" sz="820" b="1" dirty="0">
                <a:solidFill>
                  <a:srgbClr val="F2B705"/>
                </a:solidFill>
              </a:rPr>
              <a:t>FIVE PRIORITY PLAYS</a:t>
            </a:r>
            <a:endParaRPr lang="en-US" sz="820" dirty="0"/>
          </a:p>
        </p:txBody>
      </p:sp>
      <p:sp>
        <p:nvSpPr>
          <p:cNvPr id="5" name="Text 3"/>
          <p:cNvSpPr/>
          <p:nvPr/>
        </p:nvSpPr>
        <p:spPr>
          <a:xfrm>
            <a:off x="685800" y="1353312"/>
            <a:ext cx="320040" cy="292608"/>
          </a:xfrm>
          <a:prstGeom prst="rect">
            <a:avLst/>
          </a:prstGeom>
          <a:noFill/>
          <a:ln/>
        </p:spPr>
        <p:txBody>
          <a:bodyPr wrap="square" lIns="254" tIns="254" rIns="254" bIns="254" rtlCol="0" anchor="ctr">
            <a:normAutofit/>
          </a:bodyPr>
          <a:lstStyle/>
          <a:p>
            <a:pPr marL="0" indent="0">
              <a:buNone/>
            </a:pPr>
            <a:r>
              <a:rPr lang="en-US" sz="1500" b="1" dirty="0">
                <a:solidFill>
                  <a:srgbClr val="F2B705"/>
                </a:solidFill>
              </a:rPr>
              <a:t>1</a:t>
            </a:r>
            <a:endParaRPr lang="en-US" sz="1500" dirty="0"/>
          </a:p>
        </p:txBody>
      </p:sp>
      <p:sp>
        <p:nvSpPr>
          <p:cNvPr id="6" name="Text 4"/>
          <p:cNvSpPr/>
          <p:nvPr/>
        </p:nvSpPr>
        <p:spPr>
          <a:xfrm>
            <a:off x="1143000" y="1353312"/>
            <a:ext cx="2926080" cy="25603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Premium shipping SLA audit</a:t>
            </a:r>
            <a:endParaRPr lang="en-US" sz="1400" dirty="0"/>
          </a:p>
        </p:txBody>
      </p:sp>
      <p:sp>
        <p:nvSpPr>
          <p:cNvPr id="7" name="Text 5"/>
          <p:cNvSpPr/>
          <p:nvPr/>
        </p:nvSpPr>
        <p:spPr>
          <a:xfrm>
            <a:off x="4160520" y="1353312"/>
            <a:ext cx="6492240" cy="384048"/>
          </a:xfrm>
          <a:prstGeom prst="rect">
            <a:avLst/>
          </a:prstGeom>
          <a:noFill/>
          <a:ln/>
        </p:spPr>
        <p:txBody>
          <a:bodyPr wrap="square" lIns="254" tIns="254" rIns="254" bIns="254" rtlCol="0" anchor="ctr">
            <a:normAutofit/>
          </a:bodyPr>
          <a:lstStyle/>
          <a:p>
            <a:pPr marL="0" indent="0">
              <a:buNone/>
            </a:pPr>
            <a:r>
              <a:rPr lang="en-US" sz="1240" dirty="0">
                <a:solidFill>
                  <a:srgbClr val="B8C0CC"/>
                </a:solidFill>
              </a:rPr>
              <a:t>Review First Class and Second Class by region, carrier, fulfillment node, and cut-off time. Freeze risky promises until evidence improves.</a:t>
            </a:r>
            <a:endParaRPr lang="en-US" sz="1240" dirty="0"/>
          </a:p>
        </p:txBody>
      </p:sp>
      <p:sp>
        <p:nvSpPr>
          <p:cNvPr id="8" name="Text 6"/>
          <p:cNvSpPr/>
          <p:nvPr/>
        </p:nvSpPr>
        <p:spPr>
          <a:xfrm>
            <a:off x="685800" y="2203704"/>
            <a:ext cx="320040" cy="292608"/>
          </a:xfrm>
          <a:prstGeom prst="rect">
            <a:avLst/>
          </a:prstGeom>
          <a:noFill/>
          <a:ln/>
        </p:spPr>
        <p:txBody>
          <a:bodyPr wrap="square" lIns="254" tIns="254" rIns="254" bIns="254" rtlCol="0" anchor="ctr">
            <a:normAutofit/>
          </a:bodyPr>
          <a:lstStyle/>
          <a:p>
            <a:pPr marL="0" indent="0">
              <a:buNone/>
            </a:pPr>
            <a:r>
              <a:rPr lang="en-US" sz="1500" b="1" dirty="0">
                <a:solidFill>
                  <a:srgbClr val="F2B705"/>
                </a:solidFill>
              </a:rPr>
              <a:t>2</a:t>
            </a:r>
            <a:endParaRPr lang="en-US" sz="1500" dirty="0"/>
          </a:p>
        </p:txBody>
      </p:sp>
      <p:sp>
        <p:nvSpPr>
          <p:cNvPr id="9" name="Text 7"/>
          <p:cNvSpPr/>
          <p:nvPr/>
        </p:nvSpPr>
        <p:spPr>
          <a:xfrm>
            <a:off x="1143000" y="2203704"/>
            <a:ext cx="2926080" cy="25603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Regional delay control tower</a:t>
            </a:r>
            <a:endParaRPr lang="en-US" sz="1400" dirty="0"/>
          </a:p>
        </p:txBody>
      </p:sp>
      <p:sp>
        <p:nvSpPr>
          <p:cNvPr id="10" name="Text 8"/>
          <p:cNvSpPr/>
          <p:nvPr/>
        </p:nvSpPr>
        <p:spPr>
          <a:xfrm>
            <a:off x="4160520" y="2203704"/>
            <a:ext cx="6492240" cy="384048"/>
          </a:xfrm>
          <a:prstGeom prst="rect">
            <a:avLst/>
          </a:prstGeom>
          <a:noFill/>
          <a:ln/>
        </p:spPr>
        <p:txBody>
          <a:bodyPr wrap="square" lIns="254" tIns="254" rIns="254" bIns="254" rtlCol="0" anchor="ctr">
            <a:normAutofit/>
          </a:bodyPr>
          <a:lstStyle/>
          <a:p>
            <a:pPr marL="0" indent="0">
              <a:buNone/>
            </a:pPr>
            <a:r>
              <a:rPr lang="en-US" sz="1240" dirty="0">
                <a:solidFill>
                  <a:srgbClr val="B8C0CC"/>
                </a:solidFill>
              </a:rPr>
              <a:t>Start with Central Africa. Assign owners for high-risk lanes and track exception clearance daily.</a:t>
            </a:r>
            <a:endParaRPr lang="en-US" sz="1240" dirty="0"/>
          </a:p>
        </p:txBody>
      </p:sp>
      <p:sp>
        <p:nvSpPr>
          <p:cNvPr id="11" name="Text 9"/>
          <p:cNvSpPr/>
          <p:nvPr/>
        </p:nvSpPr>
        <p:spPr>
          <a:xfrm>
            <a:off x="685800" y="3054096"/>
            <a:ext cx="320040" cy="292608"/>
          </a:xfrm>
          <a:prstGeom prst="rect">
            <a:avLst/>
          </a:prstGeom>
          <a:noFill/>
          <a:ln/>
        </p:spPr>
        <p:txBody>
          <a:bodyPr wrap="square" lIns="254" tIns="254" rIns="254" bIns="254" rtlCol="0" anchor="ctr">
            <a:normAutofit/>
          </a:bodyPr>
          <a:lstStyle/>
          <a:p>
            <a:pPr marL="0" indent="0">
              <a:buNone/>
            </a:pPr>
            <a:r>
              <a:rPr lang="en-US" sz="1500" b="1" dirty="0">
                <a:solidFill>
                  <a:srgbClr val="F2B705"/>
                </a:solidFill>
              </a:rPr>
              <a:t>3</a:t>
            </a:r>
            <a:endParaRPr lang="en-US" sz="1500" dirty="0"/>
          </a:p>
        </p:txBody>
      </p:sp>
      <p:sp>
        <p:nvSpPr>
          <p:cNvPr id="12" name="Text 10"/>
          <p:cNvSpPr/>
          <p:nvPr/>
        </p:nvSpPr>
        <p:spPr>
          <a:xfrm>
            <a:off x="1143000" y="3054096"/>
            <a:ext cx="2926080" cy="25603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Payment and fraud fast lane</a:t>
            </a:r>
            <a:endParaRPr lang="en-US" sz="1400" dirty="0"/>
          </a:p>
        </p:txBody>
      </p:sp>
      <p:sp>
        <p:nvSpPr>
          <p:cNvPr id="13" name="Text 11"/>
          <p:cNvSpPr/>
          <p:nvPr/>
        </p:nvSpPr>
        <p:spPr>
          <a:xfrm>
            <a:off x="4160520" y="3054096"/>
            <a:ext cx="6492240" cy="384048"/>
          </a:xfrm>
          <a:prstGeom prst="rect">
            <a:avLst/>
          </a:prstGeom>
          <a:noFill/>
          <a:ln/>
        </p:spPr>
        <p:txBody>
          <a:bodyPr wrap="square" lIns="254" tIns="254" rIns="254" bIns="254" rtlCol="0" anchor="ctr">
            <a:normAutofit/>
          </a:bodyPr>
          <a:lstStyle/>
          <a:p>
            <a:pPr marL="0" indent="0">
              <a:buNone/>
            </a:pPr>
            <a:r>
              <a:rPr lang="en-US" sz="1240" dirty="0">
                <a:solidFill>
                  <a:srgbClr val="B8C0CC"/>
                </a:solidFill>
              </a:rPr>
              <a:t>Reduce delay caused by payment review, pending payment, suspected fraud, and transfer-heavy workflows.</a:t>
            </a:r>
            <a:endParaRPr lang="en-US" sz="1240" dirty="0"/>
          </a:p>
        </p:txBody>
      </p:sp>
      <p:sp>
        <p:nvSpPr>
          <p:cNvPr id="14" name="Text 12"/>
          <p:cNvSpPr/>
          <p:nvPr/>
        </p:nvSpPr>
        <p:spPr>
          <a:xfrm>
            <a:off x="685800" y="3904488"/>
            <a:ext cx="320040" cy="292608"/>
          </a:xfrm>
          <a:prstGeom prst="rect">
            <a:avLst/>
          </a:prstGeom>
          <a:noFill/>
          <a:ln/>
        </p:spPr>
        <p:txBody>
          <a:bodyPr wrap="square" lIns="254" tIns="254" rIns="254" bIns="254" rtlCol="0" anchor="ctr">
            <a:normAutofit/>
          </a:bodyPr>
          <a:lstStyle/>
          <a:p>
            <a:pPr marL="0" indent="0">
              <a:buNone/>
            </a:pPr>
            <a:r>
              <a:rPr lang="en-US" sz="1500" b="1" dirty="0">
                <a:solidFill>
                  <a:srgbClr val="F2B705"/>
                </a:solidFill>
              </a:rPr>
              <a:t>4</a:t>
            </a:r>
            <a:endParaRPr lang="en-US" sz="1500" dirty="0"/>
          </a:p>
        </p:txBody>
      </p:sp>
      <p:sp>
        <p:nvSpPr>
          <p:cNvPr id="15" name="Text 13"/>
          <p:cNvSpPr/>
          <p:nvPr/>
        </p:nvSpPr>
        <p:spPr>
          <a:xfrm>
            <a:off x="1143000" y="3904488"/>
            <a:ext cx="2926080" cy="25603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Time-based capacity planning</a:t>
            </a:r>
            <a:endParaRPr lang="en-US" sz="1400" dirty="0"/>
          </a:p>
        </p:txBody>
      </p:sp>
      <p:sp>
        <p:nvSpPr>
          <p:cNvPr id="16" name="Text 14"/>
          <p:cNvSpPr/>
          <p:nvPr/>
        </p:nvSpPr>
        <p:spPr>
          <a:xfrm>
            <a:off x="4160520" y="3904488"/>
            <a:ext cx="6492240" cy="384048"/>
          </a:xfrm>
          <a:prstGeom prst="rect">
            <a:avLst/>
          </a:prstGeom>
          <a:noFill/>
          <a:ln/>
        </p:spPr>
        <p:txBody>
          <a:bodyPr wrap="square" lIns="254" tIns="254" rIns="254" bIns="254" rtlCol="0" anchor="ctr">
            <a:normAutofit/>
          </a:bodyPr>
          <a:lstStyle/>
          <a:p>
            <a:pPr marL="0" indent="0">
              <a:buNone/>
            </a:pPr>
            <a:r>
              <a:rPr lang="en-US" sz="1240" dirty="0">
                <a:solidFill>
                  <a:srgbClr val="B8C0CC"/>
                </a:solidFill>
              </a:rPr>
              <a:t>Staff and monitor Monday, December, and hour-20 risk windows with proactive queue reviews.</a:t>
            </a:r>
            <a:endParaRPr lang="en-US" sz="1240" dirty="0"/>
          </a:p>
        </p:txBody>
      </p:sp>
      <p:sp>
        <p:nvSpPr>
          <p:cNvPr id="17" name="Text 15"/>
          <p:cNvSpPr/>
          <p:nvPr/>
        </p:nvSpPr>
        <p:spPr>
          <a:xfrm>
            <a:off x="685800" y="4754880"/>
            <a:ext cx="320040" cy="292608"/>
          </a:xfrm>
          <a:prstGeom prst="rect">
            <a:avLst/>
          </a:prstGeom>
          <a:noFill/>
          <a:ln/>
        </p:spPr>
        <p:txBody>
          <a:bodyPr wrap="square" lIns="254" tIns="254" rIns="254" bIns="254" rtlCol="0" anchor="ctr">
            <a:normAutofit/>
          </a:bodyPr>
          <a:lstStyle/>
          <a:p>
            <a:pPr marL="0" indent="0">
              <a:buNone/>
            </a:pPr>
            <a:r>
              <a:rPr lang="en-US" sz="1500" b="1" dirty="0">
                <a:solidFill>
                  <a:srgbClr val="F2B705"/>
                </a:solidFill>
              </a:rPr>
              <a:t>5</a:t>
            </a:r>
            <a:endParaRPr lang="en-US" sz="1500" dirty="0"/>
          </a:p>
        </p:txBody>
      </p:sp>
      <p:sp>
        <p:nvSpPr>
          <p:cNvPr id="18" name="Text 16"/>
          <p:cNvSpPr/>
          <p:nvPr/>
        </p:nvSpPr>
        <p:spPr>
          <a:xfrm>
            <a:off x="1143000" y="4754880"/>
            <a:ext cx="2926080" cy="25603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Profit-aware intervention rules</a:t>
            </a:r>
            <a:endParaRPr lang="en-US" sz="1400" dirty="0"/>
          </a:p>
        </p:txBody>
      </p:sp>
      <p:sp>
        <p:nvSpPr>
          <p:cNvPr id="19" name="Text 17"/>
          <p:cNvSpPr/>
          <p:nvPr/>
        </p:nvSpPr>
        <p:spPr>
          <a:xfrm>
            <a:off x="4160520" y="4754880"/>
            <a:ext cx="6492240" cy="384048"/>
          </a:xfrm>
          <a:prstGeom prst="rect">
            <a:avLst/>
          </a:prstGeom>
          <a:noFill/>
          <a:ln/>
        </p:spPr>
        <p:txBody>
          <a:bodyPr wrap="square" lIns="254" tIns="254" rIns="254" bIns="254" rtlCol="0" anchor="ctr">
            <a:normAutofit/>
          </a:bodyPr>
          <a:lstStyle/>
          <a:p>
            <a:pPr marL="0" indent="0">
              <a:buNone/>
            </a:pPr>
            <a:r>
              <a:rPr lang="en-US" sz="1240" dirty="0">
                <a:solidFill>
                  <a:srgbClr val="B8C0CC"/>
                </a:solidFill>
              </a:rPr>
              <a:t>Use margin and delay probability together to choose expedite, re-route, promise adjustment, or manual review.</a:t>
            </a:r>
            <a:endParaRPr lang="en-US" sz="1240" dirty="0"/>
          </a:p>
        </p:txBody>
      </p:sp>
      <p:sp>
        <p:nvSpPr>
          <p:cNvPr id="20" name="Text 18"/>
          <p:cNvSpPr/>
          <p:nvPr/>
        </p:nvSpPr>
        <p:spPr>
          <a:xfrm>
            <a:off x="1188720" y="5852160"/>
            <a:ext cx="7955280" cy="457200"/>
          </a:xfrm>
          <a:prstGeom prst="rect">
            <a:avLst/>
          </a:prstGeom>
          <a:solidFill>
            <a:srgbClr val="0F253C"/>
          </a:solidFill>
          <a:ln w="13970">
            <a:solidFill>
              <a:srgbClr val="C04D82">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Recommended operating principle: fewer, sharper interventions beat broad process change.</a:t>
            </a:r>
            <a:endParaRPr lang="en-US" sz="1250" dirty="0"/>
          </a:p>
        </p:txBody>
      </p:sp>
      <p:sp>
        <p:nvSpPr>
          <p:cNvPr id="22" name="Text 19"/>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23" name="Text 20"/>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Predictive system blueprint</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The analytics system should recommend action, not only predict delay.</a:t>
            </a:r>
            <a:endParaRPr lang="en-US" sz="1050" dirty="0"/>
          </a:p>
        </p:txBody>
      </p:sp>
      <p:sp>
        <p:nvSpPr>
          <p:cNvPr id="4" name="Text 2"/>
          <p:cNvSpPr/>
          <p:nvPr/>
        </p:nvSpPr>
        <p:spPr>
          <a:xfrm>
            <a:off x="685800" y="1261872"/>
            <a:ext cx="219456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Data signals</a:t>
            </a:r>
            <a:endParaRPr lang="en-US" sz="1400" dirty="0"/>
          </a:p>
        </p:txBody>
      </p:sp>
      <p:sp>
        <p:nvSpPr>
          <p:cNvPr id="5" name="Text 3"/>
          <p:cNvSpPr/>
          <p:nvPr/>
        </p:nvSpPr>
        <p:spPr>
          <a:xfrm>
            <a:off x="685800" y="1673352"/>
            <a:ext cx="2286000" cy="1508760"/>
          </a:xfrm>
          <a:prstGeom prst="rect">
            <a:avLst/>
          </a:prstGeom>
          <a:noFill/>
          <a:ln/>
        </p:spPr>
        <p:txBody>
          <a:bodyPr wrap="square" lIns="254" tIns="254" rIns="254" bIns="254" rtlCol="0" anchor="ctr">
            <a:normAutofit/>
          </a:bodyPr>
          <a:lstStyle/>
          <a:p>
            <a:pPr marL="0" indent="0">
              <a:buNone/>
            </a:pPr>
            <a:r>
              <a:rPr lang="en-US" sz="1300" dirty="0">
                <a:solidFill>
                  <a:srgbClr val="F5F7FB"/>
                </a:solidFill>
              </a:rPr>
              <a:t>Region</a:t>
            </a:r>
            <a:endParaRPr lang="en-US" sz="1300" dirty="0"/>
          </a:p>
          <a:p>
            <a:pPr marL="0" indent="0">
              <a:buNone/>
            </a:pPr>
            <a:r>
              <a:rPr lang="en-US" sz="1300" dirty="0">
                <a:solidFill>
                  <a:srgbClr val="F5F7FB"/>
                </a:solidFill>
              </a:rPr>
              <a:t>Shipping mode</a:t>
            </a:r>
            <a:endParaRPr lang="en-US" sz="1300" dirty="0"/>
          </a:p>
          <a:p>
            <a:pPr marL="0" indent="0">
              <a:buNone/>
            </a:pPr>
            <a:r>
              <a:rPr lang="en-US" sz="1300" dirty="0">
                <a:solidFill>
                  <a:srgbClr val="F5F7FB"/>
                </a:solidFill>
              </a:rPr>
              <a:t>Order status</a:t>
            </a:r>
            <a:endParaRPr lang="en-US" sz="1300" dirty="0"/>
          </a:p>
          <a:p>
            <a:pPr marL="0" indent="0">
              <a:buNone/>
            </a:pPr>
            <a:r>
              <a:rPr lang="en-US" sz="1300" dirty="0">
                <a:solidFill>
                  <a:srgbClr val="F5F7FB"/>
                </a:solidFill>
              </a:rPr>
              <a:t>Payment type</a:t>
            </a:r>
            <a:endParaRPr lang="en-US" sz="1300" dirty="0"/>
          </a:p>
          <a:p>
            <a:pPr marL="0" indent="0">
              <a:buNone/>
            </a:pPr>
            <a:r>
              <a:rPr lang="en-US" sz="1300" dirty="0">
                <a:solidFill>
                  <a:srgbClr val="F5F7FB"/>
                </a:solidFill>
              </a:rPr>
              <a:t>Department</a:t>
            </a:r>
            <a:endParaRPr lang="en-US" sz="1300" dirty="0"/>
          </a:p>
          <a:p>
            <a:pPr marL="0" indent="0">
              <a:buNone/>
            </a:pPr>
            <a:r>
              <a:rPr lang="en-US" sz="1300" dirty="0">
                <a:solidFill>
                  <a:srgbClr val="F5F7FB"/>
                </a:solidFill>
              </a:rPr>
              <a:t>Month, day, hour</a:t>
            </a:r>
            <a:endParaRPr lang="en-US" sz="1300" dirty="0"/>
          </a:p>
          <a:p>
            <a:pPr marL="0" indent="0">
              <a:buNone/>
            </a:pPr>
            <a:r>
              <a:rPr lang="en-US" sz="1300" dirty="0">
                <a:solidFill>
                  <a:srgbClr val="F5F7FB"/>
                </a:solidFill>
              </a:rPr>
              <a:t>Historical delay</a:t>
            </a:r>
            <a:endParaRPr lang="en-US" sz="1300" dirty="0"/>
          </a:p>
        </p:txBody>
      </p:sp>
      <p:sp>
        <p:nvSpPr>
          <p:cNvPr id="6" name="Text 4"/>
          <p:cNvSpPr/>
          <p:nvPr/>
        </p:nvSpPr>
        <p:spPr>
          <a:xfrm>
            <a:off x="3611880" y="1261872"/>
            <a:ext cx="219456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Prediction layer</a:t>
            </a:r>
            <a:endParaRPr lang="en-US" sz="1400" dirty="0"/>
          </a:p>
        </p:txBody>
      </p:sp>
      <p:sp>
        <p:nvSpPr>
          <p:cNvPr id="7" name="Text 5"/>
          <p:cNvSpPr/>
          <p:nvPr/>
        </p:nvSpPr>
        <p:spPr>
          <a:xfrm>
            <a:off x="3611880" y="1673352"/>
            <a:ext cx="2468880" cy="1188720"/>
          </a:xfrm>
          <a:prstGeom prst="rect">
            <a:avLst/>
          </a:prstGeom>
          <a:noFill/>
          <a:ln/>
        </p:spPr>
        <p:txBody>
          <a:bodyPr wrap="square" lIns="254" tIns="254" rIns="254" bIns="254" rtlCol="0" anchor="ctr">
            <a:normAutofit/>
          </a:bodyPr>
          <a:lstStyle/>
          <a:p>
            <a:pPr marL="0" indent="0">
              <a:buNone/>
            </a:pPr>
            <a:r>
              <a:rPr lang="en-US" sz="1300" dirty="0">
                <a:solidFill>
                  <a:srgbClr val="F5F7FB"/>
                </a:solidFill>
              </a:rPr>
              <a:t>Delay probability</a:t>
            </a:r>
            <a:endParaRPr lang="en-US" sz="1300" dirty="0"/>
          </a:p>
          <a:p>
            <a:pPr marL="0" indent="0">
              <a:buNone/>
            </a:pPr>
            <a:r>
              <a:rPr lang="en-US" sz="1300" dirty="0">
                <a:solidFill>
                  <a:srgbClr val="F5F7FB"/>
                </a:solidFill>
              </a:rPr>
              <a:t>Expected delay days</a:t>
            </a:r>
            <a:endParaRPr lang="en-US" sz="1300" dirty="0"/>
          </a:p>
          <a:p>
            <a:pPr marL="0" indent="0">
              <a:buNone/>
            </a:pPr>
            <a:r>
              <a:rPr lang="en-US" sz="1300" dirty="0">
                <a:solidFill>
                  <a:srgbClr val="F5F7FB"/>
                </a:solidFill>
              </a:rPr>
              <a:t>Expected profit / loss</a:t>
            </a:r>
            <a:endParaRPr lang="en-US" sz="1300" dirty="0"/>
          </a:p>
          <a:p>
            <a:pPr marL="0" indent="0">
              <a:buNone/>
            </a:pPr>
            <a:r>
              <a:rPr lang="en-US" sz="1300" dirty="0">
                <a:solidFill>
                  <a:srgbClr val="F5F7FB"/>
                </a:solidFill>
              </a:rPr>
              <a:t>Confidence band</a:t>
            </a:r>
            <a:endParaRPr lang="en-US" sz="1300" dirty="0"/>
          </a:p>
          <a:p>
            <a:pPr marL="0" indent="0">
              <a:buNone/>
            </a:pPr>
            <a:r>
              <a:rPr lang="en-US" sz="1300" dirty="0">
                <a:solidFill>
                  <a:srgbClr val="F5F7FB"/>
                </a:solidFill>
              </a:rPr>
              <a:t>Driver explanation</a:t>
            </a:r>
            <a:endParaRPr lang="en-US" sz="1300" dirty="0"/>
          </a:p>
        </p:txBody>
      </p:sp>
      <p:sp>
        <p:nvSpPr>
          <p:cNvPr id="8" name="Text 6"/>
          <p:cNvSpPr/>
          <p:nvPr/>
        </p:nvSpPr>
        <p:spPr>
          <a:xfrm>
            <a:off x="6492240" y="1261872"/>
            <a:ext cx="219456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Decision layer</a:t>
            </a:r>
            <a:endParaRPr lang="en-US" sz="1400" dirty="0"/>
          </a:p>
        </p:txBody>
      </p:sp>
      <p:sp>
        <p:nvSpPr>
          <p:cNvPr id="9" name="Text 7"/>
          <p:cNvSpPr/>
          <p:nvPr/>
        </p:nvSpPr>
        <p:spPr>
          <a:xfrm>
            <a:off x="6492240" y="1673352"/>
            <a:ext cx="2560320" cy="1188720"/>
          </a:xfrm>
          <a:prstGeom prst="rect">
            <a:avLst/>
          </a:prstGeom>
          <a:noFill/>
          <a:ln/>
        </p:spPr>
        <p:txBody>
          <a:bodyPr wrap="square" lIns="254" tIns="254" rIns="254" bIns="254" rtlCol="0" anchor="ctr">
            <a:normAutofit/>
          </a:bodyPr>
          <a:lstStyle/>
          <a:p>
            <a:pPr marL="0" indent="0">
              <a:buNone/>
            </a:pPr>
            <a:r>
              <a:rPr lang="en-US" sz="1300" dirty="0">
                <a:solidFill>
                  <a:srgbClr val="F5F7FB"/>
                </a:solidFill>
              </a:rPr>
              <a:t>Expedite</a:t>
            </a:r>
            <a:endParaRPr lang="en-US" sz="1300" dirty="0"/>
          </a:p>
          <a:p>
            <a:pPr marL="0" indent="0">
              <a:buNone/>
            </a:pPr>
            <a:r>
              <a:rPr lang="en-US" sz="1300" dirty="0">
                <a:solidFill>
                  <a:srgbClr val="F5F7FB"/>
                </a:solidFill>
              </a:rPr>
              <a:t>Re-route</a:t>
            </a:r>
            <a:endParaRPr lang="en-US" sz="1300" dirty="0"/>
          </a:p>
          <a:p>
            <a:pPr marL="0" indent="0">
              <a:buNone/>
            </a:pPr>
            <a:r>
              <a:rPr lang="en-US" sz="1300" dirty="0">
                <a:solidFill>
                  <a:srgbClr val="F5F7FB"/>
                </a:solidFill>
              </a:rPr>
              <a:t>Adjust promise</a:t>
            </a:r>
            <a:endParaRPr lang="en-US" sz="1300" dirty="0"/>
          </a:p>
          <a:p>
            <a:pPr marL="0" indent="0">
              <a:buNone/>
            </a:pPr>
            <a:r>
              <a:rPr lang="en-US" sz="1300" dirty="0">
                <a:solidFill>
                  <a:srgbClr val="F5F7FB"/>
                </a:solidFill>
              </a:rPr>
              <a:t>Prioritize review</a:t>
            </a:r>
            <a:endParaRPr lang="en-US" sz="1300" dirty="0"/>
          </a:p>
          <a:p>
            <a:pPr marL="0" indent="0">
              <a:buNone/>
            </a:pPr>
            <a:r>
              <a:rPr lang="en-US" sz="1300" dirty="0">
                <a:solidFill>
                  <a:srgbClr val="F5F7FB"/>
                </a:solidFill>
              </a:rPr>
              <a:t>Escalate to control tower</a:t>
            </a:r>
            <a:endParaRPr lang="en-US" sz="1300" dirty="0"/>
          </a:p>
        </p:txBody>
      </p:sp>
      <p:sp>
        <p:nvSpPr>
          <p:cNvPr id="10" name="Text 8"/>
          <p:cNvSpPr/>
          <p:nvPr/>
        </p:nvSpPr>
        <p:spPr>
          <a:xfrm>
            <a:off x="9418320" y="1261872"/>
            <a:ext cx="219456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Feedback loop</a:t>
            </a:r>
            <a:endParaRPr lang="en-US" sz="1400" dirty="0"/>
          </a:p>
        </p:txBody>
      </p:sp>
      <p:sp>
        <p:nvSpPr>
          <p:cNvPr id="11" name="Text 9"/>
          <p:cNvSpPr/>
          <p:nvPr/>
        </p:nvSpPr>
        <p:spPr>
          <a:xfrm>
            <a:off x="9418320" y="1673352"/>
            <a:ext cx="2194560" cy="960120"/>
          </a:xfrm>
          <a:prstGeom prst="rect">
            <a:avLst/>
          </a:prstGeom>
          <a:noFill/>
          <a:ln/>
        </p:spPr>
        <p:txBody>
          <a:bodyPr wrap="square" lIns="254" tIns="254" rIns="254" bIns="254" rtlCol="0" anchor="ctr">
            <a:normAutofit/>
          </a:bodyPr>
          <a:lstStyle/>
          <a:p>
            <a:pPr marL="0" indent="0">
              <a:buNone/>
            </a:pPr>
            <a:r>
              <a:rPr lang="en-US" sz="1300" dirty="0">
                <a:solidFill>
                  <a:srgbClr val="F5F7FB"/>
                </a:solidFill>
              </a:rPr>
              <a:t>Track outcome</a:t>
            </a:r>
            <a:endParaRPr lang="en-US" sz="1300" dirty="0"/>
          </a:p>
          <a:p>
            <a:pPr marL="0" indent="0">
              <a:buNone/>
            </a:pPr>
            <a:r>
              <a:rPr lang="en-US" sz="1300" dirty="0">
                <a:solidFill>
                  <a:srgbClr val="F5F7FB"/>
                </a:solidFill>
              </a:rPr>
              <a:t>Compare intervention cost</a:t>
            </a:r>
            <a:endParaRPr lang="en-US" sz="1300" dirty="0"/>
          </a:p>
          <a:p>
            <a:pPr marL="0" indent="0">
              <a:buNone/>
            </a:pPr>
            <a:r>
              <a:rPr lang="en-US" sz="1300" dirty="0">
                <a:solidFill>
                  <a:srgbClr val="F5F7FB"/>
                </a:solidFill>
              </a:rPr>
              <a:t>Update model</a:t>
            </a:r>
            <a:endParaRPr lang="en-US" sz="1300" dirty="0"/>
          </a:p>
          <a:p>
            <a:pPr marL="0" indent="0">
              <a:buNone/>
            </a:pPr>
            <a:r>
              <a:rPr lang="en-US" sz="1300" dirty="0">
                <a:solidFill>
                  <a:srgbClr val="F5F7FB"/>
                </a:solidFill>
              </a:rPr>
              <a:t>Review weekly KPIs</a:t>
            </a:r>
            <a:endParaRPr lang="en-US" sz="1300" dirty="0"/>
          </a:p>
        </p:txBody>
      </p:sp>
      <p:sp>
        <p:nvSpPr>
          <p:cNvPr id="12" name="Text 10"/>
          <p:cNvSpPr/>
          <p:nvPr/>
        </p:nvSpPr>
        <p:spPr>
          <a:xfrm>
            <a:off x="1097280" y="4160520"/>
            <a:ext cx="9326880" cy="566928"/>
          </a:xfrm>
          <a:prstGeom prst="rect">
            <a:avLst/>
          </a:prstGeom>
          <a:solidFill>
            <a:srgbClr val="0F253C"/>
          </a:solidFill>
          <a:ln w="13970">
            <a:solidFill>
              <a:srgbClr val="F2B705">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Model objective: flag the few orders where early action changes delivery outcome or protects margin.</a:t>
            </a:r>
            <a:endParaRPr lang="en-US" sz="1250" dirty="0"/>
          </a:p>
        </p:txBody>
      </p:sp>
      <p:sp>
        <p:nvSpPr>
          <p:cNvPr id="13" name="Text 11"/>
          <p:cNvSpPr/>
          <p:nvPr/>
        </p:nvSpPr>
        <p:spPr>
          <a:xfrm>
            <a:off x="1097280" y="5120640"/>
            <a:ext cx="2468880" cy="274320"/>
          </a:xfrm>
          <a:prstGeom prst="rect">
            <a:avLst/>
          </a:prstGeom>
          <a:noFill/>
          <a:ln/>
        </p:spPr>
        <p:txBody>
          <a:bodyPr wrap="square" lIns="254" tIns="254" rIns="254" bIns="254" rtlCol="0" anchor="ctr">
            <a:normAutofit/>
          </a:bodyPr>
          <a:lstStyle/>
          <a:p>
            <a:pPr marL="0" indent="0">
              <a:buNone/>
            </a:pPr>
            <a:r>
              <a:rPr lang="en-US" sz="1350" b="1" dirty="0">
                <a:solidFill>
                  <a:srgbClr val="F2B705"/>
                </a:solidFill>
              </a:rPr>
              <a:t>Minimum viable model</a:t>
            </a:r>
            <a:endParaRPr lang="en-US" sz="1350" dirty="0"/>
          </a:p>
        </p:txBody>
      </p:sp>
      <p:sp>
        <p:nvSpPr>
          <p:cNvPr id="14" name="Text 12"/>
          <p:cNvSpPr/>
          <p:nvPr/>
        </p:nvSpPr>
        <p:spPr>
          <a:xfrm>
            <a:off x="1097280" y="5504688"/>
            <a:ext cx="7955280" cy="475488"/>
          </a:xfrm>
          <a:prstGeom prst="rect">
            <a:avLst/>
          </a:prstGeom>
          <a:noFill/>
          <a:ln/>
        </p:spPr>
        <p:txBody>
          <a:bodyPr wrap="square" lIns="254" tIns="254" rIns="254" bIns="254" rtlCol="0" anchor="ctr">
            <a:normAutofit/>
          </a:bodyPr>
          <a:lstStyle/>
          <a:p>
            <a:pPr marL="0" indent="0">
              <a:buNone/>
            </a:pPr>
            <a:r>
              <a:rPr lang="en-US" sz="1350" dirty="0">
                <a:solidFill>
                  <a:srgbClr val="B8C0CC"/>
                </a:solidFill>
              </a:rPr>
              <a:t>Start with a binary delay classifier and add explainability by feature importance. Move next to predicted delay days and profit-aware routing.</a:t>
            </a:r>
            <a:endParaRPr lang="en-US" sz="1350" dirty="0"/>
          </a:p>
        </p:txBody>
      </p:sp>
      <p:sp>
        <p:nvSpPr>
          <p:cNvPr id="16" name="Text 13"/>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17" name="Text 14"/>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90-day execution roadmap</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A practical plan to turn the analysis into business improvement.</a:t>
            </a:r>
            <a:endParaRPr lang="en-US" sz="1050" dirty="0"/>
          </a:p>
        </p:txBody>
      </p:sp>
      <p:sp>
        <p:nvSpPr>
          <p:cNvPr id="4" name="Text 2"/>
          <p:cNvSpPr/>
          <p:nvPr/>
        </p:nvSpPr>
        <p:spPr>
          <a:xfrm>
            <a:off x="685800" y="1325880"/>
            <a:ext cx="2286000" cy="292608"/>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Days 0-30</a:t>
            </a:r>
            <a:endParaRPr lang="en-US" sz="1400" dirty="0"/>
          </a:p>
        </p:txBody>
      </p:sp>
      <p:sp>
        <p:nvSpPr>
          <p:cNvPr id="5" name="Text 3"/>
          <p:cNvSpPr/>
          <p:nvPr/>
        </p:nvSpPr>
        <p:spPr>
          <a:xfrm>
            <a:off x="685800" y="1783080"/>
            <a:ext cx="2971800" cy="347472"/>
          </a:xfrm>
          <a:prstGeom prst="rect">
            <a:avLst/>
          </a:prstGeom>
          <a:noFill/>
          <a:ln/>
        </p:spPr>
        <p:txBody>
          <a:bodyPr wrap="square" lIns="254" tIns="254" rIns="254" bIns="254" rtlCol="0" anchor="ctr">
            <a:normAutofit/>
          </a:bodyPr>
          <a:lstStyle/>
          <a:p>
            <a:pPr marL="0" indent="0">
              <a:buNone/>
            </a:pPr>
            <a:r>
              <a:rPr lang="en-US" sz="1900" b="1" dirty="0">
                <a:solidFill>
                  <a:srgbClr val="FFFFFF"/>
                </a:solidFill>
              </a:rPr>
              <a:t>Stabilize measurement</a:t>
            </a:r>
            <a:endParaRPr lang="en-US" sz="1900" dirty="0"/>
          </a:p>
        </p:txBody>
      </p:sp>
      <p:sp>
        <p:nvSpPr>
          <p:cNvPr id="6" name="Text 4"/>
          <p:cNvSpPr/>
          <p:nvPr/>
        </p:nvSpPr>
        <p:spPr>
          <a:xfrm>
            <a:off x="685800" y="2395728"/>
            <a:ext cx="3154680" cy="1188720"/>
          </a:xfrm>
          <a:prstGeom prst="rect">
            <a:avLst/>
          </a:prstGeom>
          <a:noFill/>
          <a:ln/>
        </p:spPr>
        <p:txBody>
          <a:bodyPr wrap="square" lIns="254" tIns="254" rIns="254" bIns="254" rtlCol="0" anchor="ctr">
            <a:normAutofit/>
          </a:bodyPr>
          <a:lstStyle/>
          <a:p>
            <a:pPr marL="0" indent="0">
              <a:buNone/>
            </a:pPr>
            <a:r>
              <a:rPr lang="en-US" sz="1400" dirty="0">
                <a:solidFill>
                  <a:srgbClr val="F5F7FB"/>
                </a:solidFill>
              </a:rPr>
              <a:t>Create KPI definitions, validate data quality, audit First Class and Second Class, and build daily delay dashboard.</a:t>
            </a:r>
            <a:endParaRPr lang="en-US" sz="1400" dirty="0"/>
          </a:p>
        </p:txBody>
      </p:sp>
      <p:sp>
        <p:nvSpPr>
          <p:cNvPr id="7" name="Text 5"/>
          <p:cNvSpPr/>
          <p:nvPr/>
        </p:nvSpPr>
        <p:spPr>
          <a:xfrm>
            <a:off x="4480560" y="1325880"/>
            <a:ext cx="2286000" cy="292608"/>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Days 31-60</a:t>
            </a:r>
            <a:endParaRPr lang="en-US" sz="1400" dirty="0"/>
          </a:p>
        </p:txBody>
      </p:sp>
      <p:sp>
        <p:nvSpPr>
          <p:cNvPr id="8" name="Text 6"/>
          <p:cNvSpPr/>
          <p:nvPr/>
        </p:nvSpPr>
        <p:spPr>
          <a:xfrm>
            <a:off x="4480560" y="1783080"/>
            <a:ext cx="2971800" cy="347472"/>
          </a:xfrm>
          <a:prstGeom prst="rect">
            <a:avLst/>
          </a:prstGeom>
          <a:noFill/>
          <a:ln/>
        </p:spPr>
        <p:txBody>
          <a:bodyPr wrap="square" lIns="254" tIns="254" rIns="254" bIns="254" rtlCol="0" anchor="ctr">
            <a:normAutofit/>
          </a:bodyPr>
          <a:lstStyle/>
          <a:p>
            <a:pPr marL="0" indent="0">
              <a:buNone/>
            </a:pPr>
            <a:r>
              <a:rPr lang="en-US" sz="1900" b="1" dirty="0">
                <a:solidFill>
                  <a:srgbClr val="FFFFFF"/>
                </a:solidFill>
              </a:rPr>
              <a:t>Pilot interventions</a:t>
            </a:r>
            <a:endParaRPr lang="en-US" sz="1900" dirty="0"/>
          </a:p>
        </p:txBody>
      </p:sp>
      <p:sp>
        <p:nvSpPr>
          <p:cNvPr id="9" name="Text 7"/>
          <p:cNvSpPr/>
          <p:nvPr/>
        </p:nvSpPr>
        <p:spPr>
          <a:xfrm>
            <a:off x="4480560" y="2395728"/>
            <a:ext cx="3154680" cy="1188720"/>
          </a:xfrm>
          <a:prstGeom prst="rect">
            <a:avLst/>
          </a:prstGeom>
          <a:noFill/>
          <a:ln/>
        </p:spPr>
        <p:txBody>
          <a:bodyPr wrap="square" lIns="254" tIns="254" rIns="254" bIns="254" rtlCol="0" anchor="ctr">
            <a:normAutofit/>
          </a:bodyPr>
          <a:lstStyle/>
          <a:p>
            <a:pPr marL="0" indent="0">
              <a:buNone/>
            </a:pPr>
            <a:r>
              <a:rPr lang="en-US" sz="1400" dirty="0">
                <a:solidFill>
                  <a:srgbClr val="F5F7FB"/>
                </a:solidFill>
              </a:rPr>
              <a:t>Launch Central Africa control tower, payment-review fast lane, and Monday / evening capacity checks.</a:t>
            </a:r>
            <a:endParaRPr lang="en-US" sz="1400" dirty="0"/>
          </a:p>
        </p:txBody>
      </p:sp>
      <p:sp>
        <p:nvSpPr>
          <p:cNvPr id="10" name="Text 8"/>
          <p:cNvSpPr/>
          <p:nvPr/>
        </p:nvSpPr>
        <p:spPr>
          <a:xfrm>
            <a:off x="8275320" y="1325880"/>
            <a:ext cx="2286000" cy="292608"/>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Days 61-90</a:t>
            </a:r>
            <a:endParaRPr lang="en-US" sz="1400" dirty="0"/>
          </a:p>
        </p:txBody>
      </p:sp>
      <p:sp>
        <p:nvSpPr>
          <p:cNvPr id="11" name="Text 9"/>
          <p:cNvSpPr/>
          <p:nvPr/>
        </p:nvSpPr>
        <p:spPr>
          <a:xfrm>
            <a:off x="8275320" y="1783080"/>
            <a:ext cx="2971800" cy="347472"/>
          </a:xfrm>
          <a:prstGeom prst="rect">
            <a:avLst/>
          </a:prstGeom>
          <a:noFill/>
          <a:ln/>
        </p:spPr>
        <p:txBody>
          <a:bodyPr wrap="square" lIns="254" tIns="254" rIns="254" bIns="254" rtlCol="0" anchor="ctr">
            <a:normAutofit/>
          </a:bodyPr>
          <a:lstStyle/>
          <a:p>
            <a:pPr marL="0" indent="0">
              <a:buNone/>
            </a:pPr>
            <a:r>
              <a:rPr lang="en-US" sz="1900" b="1" dirty="0">
                <a:solidFill>
                  <a:srgbClr val="FFFFFF"/>
                </a:solidFill>
              </a:rPr>
              <a:t>Scale predictive action</a:t>
            </a:r>
            <a:endParaRPr lang="en-US" sz="1900" dirty="0"/>
          </a:p>
        </p:txBody>
      </p:sp>
      <p:sp>
        <p:nvSpPr>
          <p:cNvPr id="12" name="Text 10"/>
          <p:cNvSpPr/>
          <p:nvPr/>
        </p:nvSpPr>
        <p:spPr>
          <a:xfrm>
            <a:off x="8275320" y="2395728"/>
            <a:ext cx="3154680" cy="1188720"/>
          </a:xfrm>
          <a:prstGeom prst="rect">
            <a:avLst/>
          </a:prstGeom>
          <a:noFill/>
          <a:ln/>
        </p:spPr>
        <p:txBody>
          <a:bodyPr wrap="square" lIns="254" tIns="254" rIns="254" bIns="254" rtlCol="0" anchor="ctr">
            <a:normAutofit/>
          </a:bodyPr>
          <a:lstStyle/>
          <a:p>
            <a:pPr marL="0" indent="0">
              <a:buNone/>
            </a:pPr>
            <a:r>
              <a:rPr lang="en-US" sz="1400" dirty="0">
                <a:solidFill>
                  <a:srgbClr val="F5F7FB"/>
                </a:solidFill>
              </a:rPr>
              <a:t>Deploy delay risk score, run A/B intervention tests, and set review cadence for shipping promises and margin impact.</a:t>
            </a:r>
            <a:endParaRPr lang="en-US" sz="1400" dirty="0"/>
          </a:p>
        </p:txBody>
      </p:sp>
      <p:sp>
        <p:nvSpPr>
          <p:cNvPr id="13" name="Text 11"/>
          <p:cNvSpPr/>
          <p:nvPr/>
        </p:nvSpPr>
        <p:spPr>
          <a:xfrm>
            <a:off x="1097280" y="4882896"/>
            <a:ext cx="9601200" cy="685800"/>
          </a:xfrm>
          <a:prstGeom prst="rect">
            <a:avLst/>
          </a:prstGeom>
          <a:solidFill>
            <a:srgbClr val="0F253C"/>
          </a:solidFill>
          <a:ln w="13970">
            <a:solidFill>
              <a:srgbClr val="C04D82">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Success target: reduce late delivery percentage, reduce 3+ day severe delays, and lower loss-making order exposure without damaging profitable volume.</a:t>
            </a:r>
            <a:endParaRPr lang="en-US" sz="1250" dirty="0"/>
          </a:p>
        </p:txBody>
      </p:sp>
      <p:sp>
        <p:nvSpPr>
          <p:cNvPr id="14" name="Text 12"/>
          <p:cNvSpPr/>
          <p:nvPr/>
        </p:nvSpPr>
        <p:spPr>
          <a:xfrm>
            <a:off x="1097280" y="5806440"/>
            <a:ext cx="1371600" cy="237744"/>
          </a:xfrm>
          <a:prstGeom prst="rect">
            <a:avLst/>
          </a:prstGeom>
          <a:noFill/>
          <a:ln/>
        </p:spPr>
        <p:txBody>
          <a:bodyPr wrap="square" lIns="254" tIns="254" rIns="254" bIns="254" rtlCol="0" anchor="ctr">
            <a:normAutofit/>
          </a:bodyPr>
          <a:lstStyle/>
          <a:p>
            <a:pPr marL="0" indent="0">
              <a:buNone/>
            </a:pPr>
            <a:r>
              <a:rPr lang="en-US" sz="1250" b="1" dirty="0">
                <a:solidFill>
                  <a:srgbClr val="F2B705"/>
                </a:solidFill>
              </a:rPr>
              <a:t>Owner model</a:t>
            </a:r>
            <a:endParaRPr lang="en-US" sz="1250" dirty="0"/>
          </a:p>
        </p:txBody>
      </p:sp>
      <p:sp>
        <p:nvSpPr>
          <p:cNvPr id="15" name="Text 13"/>
          <p:cNvSpPr/>
          <p:nvPr/>
        </p:nvSpPr>
        <p:spPr>
          <a:xfrm>
            <a:off x="2606040" y="5806440"/>
            <a:ext cx="8046720" cy="256032"/>
          </a:xfrm>
          <a:prstGeom prst="rect">
            <a:avLst/>
          </a:prstGeom>
          <a:noFill/>
          <a:ln/>
        </p:spPr>
        <p:txBody>
          <a:bodyPr wrap="square" lIns="254" tIns="254" rIns="254" bIns="254" rtlCol="0" anchor="ctr">
            <a:normAutofit fontScale="77500" lnSpcReduction="20000"/>
          </a:bodyPr>
          <a:lstStyle/>
          <a:p>
            <a:pPr marL="0" indent="0">
              <a:buNone/>
            </a:pPr>
            <a:r>
              <a:rPr lang="en-US" sz="1250" dirty="0">
                <a:solidFill>
                  <a:srgbClr val="B8C0CC"/>
                </a:solidFill>
              </a:rPr>
              <a:t>Operations owns intervention. Analytics owns scoring. Finance owns profit guardrails. Customer teams own customer promise impact.</a:t>
            </a:r>
            <a:endParaRPr lang="en-US" sz="1250" dirty="0"/>
          </a:p>
        </p:txBody>
      </p:sp>
      <p:sp>
        <p:nvSpPr>
          <p:cNvPr id="17" name="Text 14"/>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18" name="Text 15"/>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KPI governance for stakeholders</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The reporting rhythm should move from monthly explanation to weekly operational control.</a:t>
            </a:r>
            <a:endParaRPr lang="en-US" sz="1050" dirty="0"/>
          </a:p>
        </p:txBody>
      </p:sp>
      <p:sp>
        <p:nvSpPr>
          <p:cNvPr id="4" name="Text 2"/>
          <p:cNvSpPr/>
          <p:nvPr/>
        </p:nvSpPr>
        <p:spPr>
          <a:xfrm>
            <a:off x="685800" y="1234440"/>
            <a:ext cx="201168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Primary KPIs</a:t>
            </a:r>
            <a:endParaRPr lang="en-US" sz="1400" dirty="0"/>
          </a:p>
        </p:txBody>
      </p:sp>
      <p:sp>
        <p:nvSpPr>
          <p:cNvPr id="5" name="Text 3"/>
          <p:cNvSpPr/>
          <p:nvPr/>
        </p:nvSpPr>
        <p:spPr>
          <a:xfrm>
            <a:off x="685800" y="1627632"/>
            <a:ext cx="2926080" cy="1234440"/>
          </a:xfrm>
          <a:prstGeom prst="rect">
            <a:avLst/>
          </a:prstGeom>
          <a:noFill/>
          <a:ln/>
        </p:spPr>
        <p:txBody>
          <a:bodyPr wrap="square" lIns="254" tIns="254" rIns="254" bIns="254" rtlCol="0" anchor="ctr">
            <a:normAutofit/>
          </a:bodyPr>
          <a:lstStyle/>
          <a:p>
            <a:pPr marL="0" indent="0">
              <a:buNone/>
            </a:pPr>
            <a:r>
              <a:rPr lang="en-US" sz="1300" dirty="0">
                <a:solidFill>
                  <a:srgbClr val="F5F7FB"/>
                </a:solidFill>
              </a:rPr>
              <a:t>Late delivery %</a:t>
            </a:r>
            <a:endParaRPr lang="en-US" sz="1300" dirty="0"/>
          </a:p>
          <a:p>
            <a:pPr marL="0" indent="0">
              <a:buNone/>
            </a:pPr>
            <a:r>
              <a:rPr lang="en-US" sz="1300" dirty="0">
                <a:solidFill>
                  <a:srgbClr val="F5F7FB"/>
                </a:solidFill>
              </a:rPr>
              <a:t>On-time delivery %</a:t>
            </a:r>
            <a:endParaRPr lang="en-US" sz="1300" dirty="0"/>
          </a:p>
          <a:p>
            <a:pPr marL="0" indent="0">
              <a:buNone/>
            </a:pPr>
            <a:r>
              <a:rPr lang="en-US" sz="1300" dirty="0">
                <a:solidFill>
                  <a:srgbClr val="F5F7FB"/>
                </a:solidFill>
              </a:rPr>
              <a:t>3+ day severe delay %</a:t>
            </a:r>
            <a:endParaRPr lang="en-US" sz="1300" dirty="0"/>
          </a:p>
          <a:p>
            <a:pPr marL="0" indent="0">
              <a:buNone/>
            </a:pPr>
            <a:r>
              <a:rPr lang="en-US" sz="1300" dirty="0">
                <a:solidFill>
                  <a:srgbClr val="F5F7FB"/>
                </a:solidFill>
              </a:rPr>
              <a:t>Orders delayed by 1 day</a:t>
            </a:r>
            <a:endParaRPr lang="en-US" sz="1300" dirty="0"/>
          </a:p>
          <a:p>
            <a:pPr marL="0" indent="0">
              <a:buNone/>
            </a:pPr>
            <a:r>
              <a:rPr lang="en-US" sz="1300" dirty="0">
                <a:solidFill>
                  <a:srgbClr val="F5F7FB"/>
                </a:solidFill>
              </a:rPr>
              <a:t>Average profit by delay day</a:t>
            </a:r>
            <a:endParaRPr lang="en-US" sz="1300" dirty="0"/>
          </a:p>
        </p:txBody>
      </p:sp>
      <p:sp>
        <p:nvSpPr>
          <p:cNvPr id="6" name="Text 4"/>
          <p:cNvSpPr/>
          <p:nvPr/>
        </p:nvSpPr>
        <p:spPr>
          <a:xfrm>
            <a:off x="3840480" y="1234440"/>
            <a:ext cx="201168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Driver KPIs</a:t>
            </a:r>
            <a:endParaRPr lang="en-US" sz="1400" dirty="0"/>
          </a:p>
        </p:txBody>
      </p:sp>
      <p:sp>
        <p:nvSpPr>
          <p:cNvPr id="7" name="Text 5"/>
          <p:cNvSpPr/>
          <p:nvPr/>
        </p:nvSpPr>
        <p:spPr>
          <a:xfrm>
            <a:off x="3840480" y="1627632"/>
            <a:ext cx="2926080" cy="1234440"/>
          </a:xfrm>
          <a:prstGeom prst="rect">
            <a:avLst/>
          </a:prstGeom>
          <a:noFill/>
          <a:ln/>
        </p:spPr>
        <p:txBody>
          <a:bodyPr wrap="square" lIns="254" tIns="254" rIns="254" bIns="254" rtlCol="0" anchor="ctr">
            <a:normAutofit/>
          </a:bodyPr>
          <a:lstStyle/>
          <a:p>
            <a:pPr marL="0" indent="0">
              <a:buNone/>
            </a:pPr>
            <a:r>
              <a:rPr lang="en-US" sz="1300" dirty="0">
                <a:solidFill>
                  <a:srgbClr val="F5F7FB"/>
                </a:solidFill>
              </a:rPr>
              <a:t>Delay by region</a:t>
            </a:r>
            <a:endParaRPr lang="en-US" sz="1300" dirty="0"/>
          </a:p>
          <a:p>
            <a:pPr marL="0" indent="0">
              <a:buNone/>
            </a:pPr>
            <a:r>
              <a:rPr lang="en-US" sz="1300" dirty="0">
                <a:solidFill>
                  <a:srgbClr val="F5F7FB"/>
                </a:solidFill>
              </a:rPr>
              <a:t>Delay by shipping mode</a:t>
            </a:r>
            <a:endParaRPr lang="en-US" sz="1300" dirty="0"/>
          </a:p>
          <a:p>
            <a:pPr marL="0" indent="0">
              <a:buNone/>
            </a:pPr>
            <a:r>
              <a:rPr lang="en-US" sz="1300" dirty="0">
                <a:solidFill>
                  <a:srgbClr val="F5F7FB"/>
                </a:solidFill>
              </a:rPr>
              <a:t>Payment review cycle time</a:t>
            </a:r>
            <a:endParaRPr lang="en-US" sz="1300" dirty="0"/>
          </a:p>
          <a:p>
            <a:pPr marL="0" indent="0">
              <a:buNone/>
            </a:pPr>
            <a:r>
              <a:rPr lang="en-US" sz="1300" dirty="0">
                <a:solidFill>
                  <a:srgbClr val="F5F7FB"/>
                </a:solidFill>
              </a:rPr>
              <a:t>Fraud review cycle time</a:t>
            </a:r>
            <a:endParaRPr lang="en-US" sz="1300" dirty="0"/>
          </a:p>
          <a:p>
            <a:pPr marL="0" indent="0">
              <a:buNone/>
            </a:pPr>
            <a:r>
              <a:rPr lang="en-US" sz="1300" dirty="0">
                <a:solidFill>
                  <a:srgbClr val="F5F7FB"/>
                </a:solidFill>
              </a:rPr>
              <a:t>Delay by hour and day</a:t>
            </a:r>
            <a:endParaRPr lang="en-US" sz="1300" dirty="0"/>
          </a:p>
        </p:txBody>
      </p:sp>
      <p:sp>
        <p:nvSpPr>
          <p:cNvPr id="8" name="Text 6"/>
          <p:cNvSpPr/>
          <p:nvPr/>
        </p:nvSpPr>
        <p:spPr>
          <a:xfrm>
            <a:off x="6995160" y="1234440"/>
            <a:ext cx="201168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Decision KPIs</a:t>
            </a:r>
            <a:endParaRPr lang="en-US" sz="1400" dirty="0"/>
          </a:p>
        </p:txBody>
      </p:sp>
      <p:sp>
        <p:nvSpPr>
          <p:cNvPr id="9" name="Text 7"/>
          <p:cNvSpPr/>
          <p:nvPr/>
        </p:nvSpPr>
        <p:spPr>
          <a:xfrm>
            <a:off x="6995160" y="1627632"/>
            <a:ext cx="3200400" cy="1234440"/>
          </a:xfrm>
          <a:prstGeom prst="rect">
            <a:avLst/>
          </a:prstGeom>
          <a:noFill/>
          <a:ln/>
        </p:spPr>
        <p:txBody>
          <a:bodyPr wrap="square" lIns="254" tIns="254" rIns="254" bIns="254" rtlCol="0" anchor="ctr">
            <a:normAutofit/>
          </a:bodyPr>
          <a:lstStyle/>
          <a:p>
            <a:pPr marL="0" indent="0">
              <a:buNone/>
            </a:pPr>
            <a:r>
              <a:rPr lang="en-US" sz="1300" dirty="0">
                <a:solidFill>
                  <a:srgbClr val="F5F7FB"/>
                </a:solidFill>
              </a:rPr>
              <a:t>Intervention rate</a:t>
            </a:r>
            <a:endParaRPr lang="en-US" sz="1300" dirty="0"/>
          </a:p>
          <a:p>
            <a:pPr marL="0" indent="0">
              <a:buNone/>
            </a:pPr>
            <a:r>
              <a:rPr lang="en-US" sz="1300" dirty="0">
                <a:solidFill>
                  <a:srgbClr val="F5F7FB"/>
                </a:solidFill>
              </a:rPr>
              <a:t>Prevented delay rate</a:t>
            </a:r>
            <a:endParaRPr lang="en-US" sz="1300" dirty="0"/>
          </a:p>
          <a:p>
            <a:pPr marL="0" indent="0">
              <a:buNone/>
            </a:pPr>
            <a:r>
              <a:rPr lang="en-US" sz="1300" dirty="0">
                <a:solidFill>
                  <a:srgbClr val="F5F7FB"/>
                </a:solidFill>
              </a:rPr>
              <a:t>Expedite cost per saved order</a:t>
            </a:r>
            <a:endParaRPr lang="en-US" sz="1300" dirty="0"/>
          </a:p>
          <a:p>
            <a:pPr marL="0" indent="0">
              <a:buNone/>
            </a:pPr>
            <a:r>
              <a:rPr lang="en-US" sz="1300" dirty="0">
                <a:solidFill>
                  <a:srgbClr val="F5F7FB"/>
                </a:solidFill>
              </a:rPr>
              <a:t>Promise adjustment rate</a:t>
            </a:r>
            <a:endParaRPr lang="en-US" sz="1300" dirty="0"/>
          </a:p>
          <a:p>
            <a:pPr marL="0" indent="0">
              <a:buNone/>
            </a:pPr>
            <a:r>
              <a:rPr lang="en-US" sz="1300" dirty="0">
                <a:solidFill>
                  <a:srgbClr val="F5F7FB"/>
                </a:solidFill>
              </a:rPr>
              <a:t>Profit protected</a:t>
            </a:r>
            <a:endParaRPr lang="en-US" sz="1300" dirty="0"/>
          </a:p>
        </p:txBody>
      </p:sp>
      <p:sp>
        <p:nvSpPr>
          <p:cNvPr id="10" name="Text 8"/>
          <p:cNvSpPr/>
          <p:nvPr/>
        </p:nvSpPr>
        <p:spPr>
          <a:xfrm>
            <a:off x="685800" y="3886200"/>
            <a:ext cx="2377440" cy="274320"/>
          </a:xfrm>
          <a:prstGeom prst="rect">
            <a:avLst/>
          </a:prstGeom>
          <a:noFill/>
          <a:ln/>
        </p:spPr>
        <p:txBody>
          <a:bodyPr wrap="square" lIns="254" tIns="254" rIns="254" bIns="254" rtlCol="0" anchor="ctr">
            <a:normAutofit/>
          </a:bodyPr>
          <a:lstStyle/>
          <a:p>
            <a:pPr marL="0" indent="0">
              <a:buNone/>
            </a:pPr>
            <a:r>
              <a:rPr lang="en-US" sz="1400" b="1" dirty="0">
                <a:solidFill>
                  <a:srgbClr val="F2B705"/>
                </a:solidFill>
              </a:rPr>
              <a:t>Governance cadence</a:t>
            </a:r>
            <a:endParaRPr lang="en-US" sz="1400" dirty="0"/>
          </a:p>
        </p:txBody>
      </p:sp>
      <p:sp>
        <p:nvSpPr>
          <p:cNvPr id="11" name="Text 9"/>
          <p:cNvSpPr/>
          <p:nvPr/>
        </p:nvSpPr>
        <p:spPr>
          <a:xfrm>
            <a:off x="685800" y="4279392"/>
            <a:ext cx="4754880" cy="960120"/>
          </a:xfrm>
          <a:prstGeom prst="rect">
            <a:avLst/>
          </a:prstGeom>
          <a:noFill/>
          <a:ln/>
        </p:spPr>
        <p:txBody>
          <a:bodyPr wrap="square" lIns="254" tIns="254" rIns="254" bIns="254" rtlCol="0" anchor="ctr">
            <a:normAutofit/>
          </a:bodyPr>
          <a:lstStyle/>
          <a:p>
            <a:pPr marL="0" indent="0">
              <a:buNone/>
            </a:pPr>
            <a:r>
              <a:rPr lang="en-US" sz="1350" dirty="0">
                <a:solidFill>
                  <a:srgbClr val="F5F7FB"/>
                </a:solidFill>
              </a:rPr>
              <a:t>Daily: exception queue review</a:t>
            </a:r>
            <a:endParaRPr lang="en-US" sz="1350" dirty="0"/>
          </a:p>
          <a:p>
            <a:pPr marL="0" indent="0">
              <a:buNone/>
            </a:pPr>
            <a:r>
              <a:rPr lang="en-US" sz="1350" dirty="0">
                <a:solidFill>
                  <a:srgbClr val="F5F7FB"/>
                </a:solidFill>
              </a:rPr>
              <a:t>Weekly: cross-functional KPI review</a:t>
            </a:r>
            <a:endParaRPr lang="en-US" sz="1350" dirty="0"/>
          </a:p>
          <a:p>
            <a:pPr marL="0" indent="0">
              <a:buNone/>
            </a:pPr>
            <a:r>
              <a:rPr lang="en-US" sz="1350" dirty="0">
                <a:solidFill>
                  <a:srgbClr val="F5F7FB"/>
                </a:solidFill>
              </a:rPr>
              <a:t>Monthly: lane, carrier, and promise strategy</a:t>
            </a:r>
            <a:endParaRPr lang="en-US" sz="1350" dirty="0"/>
          </a:p>
          <a:p>
            <a:pPr marL="0" indent="0">
              <a:buNone/>
            </a:pPr>
            <a:r>
              <a:rPr lang="en-US" sz="1350" dirty="0">
                <a:solidFill>
                  <a:srgbClr val="F5F7FB"/>
                </a:solidFill>
              </a:rPr>
              <a:t>Quarterly: model retraining and policy refresh</a:t>
            </a:r>
            <a:endParaRPr lang="en-US" sz="1350" dirty="0"/>
          </a:p>
        </p:txBody>
      </p:sp>
      <p:sp>
        <p:nvSpPr>
          <p:cNvPr id="12" name="Text 10"/>
          <p:cNvSpPr/>
          <p:nvPr/>
        </p:nvSpPr>
        <p:spPr>
          <a:xfrm>
            <a:off x="6172200" y="4297680"/>
            <a:ext cx="4480560" cy="804672"/>
          </a:xfrm>
          <a:prstGeom prst="rect">
            <a:avLst/>
          </a:prstGeom>
          <a:solidFill>
            <a:srgbClr val="0F253C"/>
          </a:solidFill>
          <a:ln w="13970">
            <a:solidFill>
              <a:srgbClr val="F2B705">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Decision ask: approve a 90-day pilot focused on premium shipping, Central Africa, payment review, and delay risk scoring.</a:t>
            </a:r>
            <a:endParaRPr lang="en-US" sz="1250" dirty="0"/>
          </a:p>
        </p:txBody>
      </p:sp>
      <p:sp>
        <p:nvSpPr>
          <p:cNvPr id="14" name="Text 11"/>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15" name="Text 12"/>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1323"/>
        </a:solidFill>
        <a:effectLst/>
      </p:bgPr>
    </p:bg>
    <p:spTree>
      <p:nvGrpSpPr>
        <p:cNvPr id="1" name=""/>
        <p:cNvGrpSpPr/>
        <p:nvPr/>
      </p:nvGrpSpPr>
      <p:grpSpPr>
        <a:xfrm>
          <a:off x="0" y="0"/>
          <a:ext cx="0" cy="0"/>
          <a:chOff x="0" y="0"/>
          <a:chExt cx="0" cy="0"/>
        </a:xfrm>
      </p:grpSpPr>
      <p:sp>
        <p:nvSpPr>
          <p:cNvPr id="2" name="Text 0"/>
          <p:cNvSpPr/>
          <p:nvPr/>
        </p:nvSpPr>
        <p:spPr>
          <a:xfrm>
            <a:off x="548640" y="320040"/>
            <a:ext cx="7680960" cy="384048"/>
          </a:xfrm>
          <a:prstGeom prst="rect">
            <a:avLst/>
          </a:prstGeom>
          <a:noFill/>
          <a:ln/>
        </p:spPr>
        <p:txBody>
          <a:bodyPr wrap="square" lIns="0" tIns="0" rIns="0" bIns="0" rtlCol="0" anchor="ctr">
            <a:normAutofit/>
          </a:bodyP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Final takeaway</a:t>
            </a:r>
            <a:endParaRPr lang="en-US" sz="2500" dirty="0"/>
          </a:p>
        </p:txBody>
      </p:sp>
      <p:sp>
        <p:nvSpPr>
          <p:cNvPr id="3" name="Text 1"/>
          <p:cNvSpPr/>
          <p:nvPr/>
        </p:nvSpPr>
        <p:spPr>
          <a:xfrm>
            <a:off x="566928" y="749808"/>
            <a:ext cx="8778240" cy="256032"/>
          </a:xfrm>
          <a:prstGeom prst="rect">
            <a:avLst/>
          </a:prstGeom>
          <a:noFill/>
          <a:ln/>
        </p:spPr>
        <p:txBody>
          <a:bodyPr wrap="square" lIns="0" tIns="0" rIns="0" bIns="0" rtlCol="0" anchor="ctr">
            <a:normAutofit/>
          </a:bodyPr>
          <a:lstStyle/>
          <a:p>
            <a:pPr marL="0" indent="0">
              <a:buNone/>
            </a:pPr>
            <a:r>
              <a:rPr lang="en-US" sz="1050" dirty="0">
                <a:solidFill>
                  <a:srgbClr val="B8C0CC"/>
                </a:solidFill>
              </a:rPr>
              <a:t>The company has enough signal to act now.</a:t>
            </a:r>
            <a:endParaRPr lang="en-US" sz="1050" dirty="0"/>
          </a:p>
        </p:txBody>
      </p:sp>
      <p:sp>
        <p:nvSpPr>
          <p:cNvPr id="4" name="Text 2"/>
          <p:cNvSpPr/>
          <p:nvPr/>
        </p:nvSpPr>
        <p:spPr>
          <a:xfrm>
            <a:off x="822960" y="1371600"/>
            <a:ext cx="7040880" cy="685800"/>
          </a:xfrm>
          <a:prstGeom prst="rect">
            <a:avLst/>
          </a:prstGeom>
          <a:noFill/>
          <a:ln/>
        </p:spPr>
        <p:txBody>
          <a:bodyPr wrap="square" lIns="254" tIns="254" rIns="254" bIns="254" rtlCol="0" anchor="ctr">
            <a:normAutofit fontScale="85000" lnSpcReduction="20000"/>
          </a:bodyPr>
          <a:lstStyle/>
          <a:p>
            <a:pPr marL="0" indent="0">
              <a:buNone/>
            </a:pPr>
            <a:r>
              <a:rPr lang="en-US" sz="2000" b="1" dirty="0">
                <a:solidFill>
                  <a:srgbClr val="FFFFFF"/>
                </a:solidFill>
              </a:rPr>
              <a:t>Late delivery is not evenly distributed. It is concentrated by delay day, shipping mode, region, status, payment flow, department, and time window.</a:t>
            </a:r>
            <a:endParaRPr lang="en-US" sz="2000" dirty="0"/>
          </a:p>
        </p:txBody>
      </p:sp>
      <p:sp>
        <p:nvSpPr>
          <p:cNvPr id="5" name="Text 3"/>
          <p:cNvSpPr/>
          <p:nvPr/>
        </p:nvSpPr>
        <p:spPr>
          <a:xfrm>
            <a:off x="822960" y="2468880"/>
            <a:ext cx="7406640" cy="1051560"/>
          </a:xfrm>
          <a:prstGeom prst="rect">
            <a:avLst/>
          </a:prstGeom>
          <a:noFill/>
          <a:ln/>
        </p:spPr>
        <p:txBody>
          <a:bodyPr wrap="square" lIns="254" tIns="254" rIns="254" bIns="254" rtlCol="0" anchor="ctr">
            <a:normAutofit lnSpcReduction="10000"/>
          </a:bodyPr>
          <a:lstStyle/>
          <a:p>
            <a:pPr marL="0" indent="0">
              <a:buNone/>
            </a:pPr>
            <a:r>
              <a:rPr lang="en-US" sz="1800" dirty="0">
                <a:solidFill>
                  <a:srgbClr val="F5F7FB"/>
                </a:solidFill>
              </a:rPr>
              <a:t>The best next step is a focused operating pilot, not more generic reporting. Start with the lanes where the data is clearest, connect risk scoring to action, and measure whether interventions protect delivery trust and margin.</a:t>
            </a:r>
            <a:endParaRPr lang="en-US" sz="1800" dirty="0"/>
          </a:p>
        </p:txBody>
      </p:sp>
      <p:sp>
        <p:nvSpPr>
          <p:cNvPr id="6" name="Text 4"/>
          <p:cNvSpPr/>
          <p:nvPr/>
        </p:nvSpPr>
        <p:spPr>
          <a:xfrm>
            <a:off x="868680" y="4297680"/>
            <a:ext cx="2011680" cy="411480"/>
          </a:xfrm>
          <a:prstGeom prst="rect">
            <a:avLst/>
          </a:prstGeom>
          <a:noFill/>
          <a:ln/>
        </p:spPr>
        <p:txBody>
          <a:bodyPr wrap="square" lIns="0" tIns="0" rIns="0" bIns="0" rtlCol="0" anchor="ctr">
            <a:normAutofit lnSpcReduction="10000"/>
          </a:bodyPr>
          <a:lstStyle/>
          <a:p>
            <a:pPr marL="0" indent="0">
              <a:buNone/>
            </a:pPr>
            <a:r>
              <a:rPr lang="en-US" sz="2900" b="1" dirty="0">
                <a:solidFill>
                  <a:srgbClr val="F2B705"/>
                </a:solidFill>
                <a:latin typeface="Aptos Display" pitchFamily="34" charset="0"/>
                <a:ea typeface="Aptos Display" pitchFamily="34" charset="-122"/>
                <a:cs typeface="Aptos Display" pitchFamily="34" charset="-120"/>
              </a:rPr>
              <a:t>Predict</a:t>
            </a:r>
            <a:endParaRPr lang="en-US" sz="2900" dirty="0"/>
          </a:p>
        </p:txBody>
      </p:sp>
      <p:sp>
        <p:nvSpPr>
          <p:cNvPr id="7" name="Text 5"/>
          <p:cNvSpPr/>
          <p:nvPr/>
        </p:nvSpPr>
        <p:spPr>
          <a:xfrm>
            <a:off x="868680" y="4773168"/>
            <a:ext cx="201168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risk before delay</a:t>
            </a:r>
            <a:endParaRPr lang="en-US" sz="1020" dirty="0"/>
          </a:p>
        </p:txBody>
      </p:sp>
      <p:sp>
        <p:nvSpPr>
          <p:cNvPr id="8" name="Text 6"/>
          <p:cNvSpPr/>
          <p:nvPr/>
        </p:nvSpPr>
        <p:spPr>
          <a:xfrm>
            <a:off x="3383280" y="4297680"/>
            <a:ext cx="2377440" cy="411480"/>
          </a:xfrm>
          <a:prstGeom prst="rect">
            <a:avLst/>
          </a:prstGeom>
          <a:noFill/>
          <a:ln/>
        </p:spPr>
        <p:txBody>
          <a:bodyPr wrap="square" lIns="0" tIns="0" rIns="0" bIns="0" rtlCol="0" anchor="ctr">
            <a:normAutofit lnSpcReduction="10000"/>
          </a:bodyPr>
          <a:lstStyle/>
          <a:p>
            <a:pPr marL="0" indent="0">
              <a:buNone/>
            </a:pPr>
            <a:r>
              <a:rPr lang="en-US" sz="2900" b="1" dirty="0">
                <a:solidFill>
                  <a:srgbClr val="C04D82"/>
                </a:solidFill>
                <a:latin typeface="Aptos Display" pitchFamily="34" charset="0"/>
                <a:ea typeface="Aptos Display" pitchFamily="34" charset="-122"/>
                <a:cs typeface="Aptos Display" pitchFamily="34" charset="-120"/>
              </a:rPr>
              <a:t>Prioritize</a:t>
            </a:r>
            <a:endParaRPr lang="en-US" sz="2900" dirty="0"/>
          </a:p>
        </p:txBody>
      </p:sp>
      <p:sp>
        <p:nvSpPr>
          <p:cNvPr id="9" name="Text 7"/>
          <p:cNvSpPr/>
          <p:nvPr/>
        </p:nvSpPr>
        <p:spPr>
          <a:xfrm>
            <a:off x="3383280" y="4773168"/>
            <a:ext cx="237744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orders worth action</a:t>
            </a:r>
            <a:endParaRPr lang="en-US" sz="1020" dirty="0"/>
          </a:p>
        </p:txBody>
      </p:sp>
      <p:sp>
        <p:nvSpPr>
          <p:cNvPr id="10" name="Text 8"/>
          <p:cNvSpPr/>
          <p:nvPr/>
        </p:nvSpPr>
        <p:spPr>
          <a:xfrm>
            <a:off x="6080760" y="4297680"/>
            <a:ext cx="2560320" cy="411480"/>
          </a:xfrm>
          <a:prstGeom prst="rect">
            <a:avLst/>
          </a:prstGeom>
          <a:noFill/>
          <a:ln/>
        </p:spPr>
        <p:txBody>
          <a:bodyPr wrap="square" lIns="0" tIns="0" rIns="0" bIns="0" rtlCol="0" anchor="ctr">
            <a:normAutofit lnSpcReduction="10000"/>
          </a:bodyPr>
          <a:lstStyle/>
          <a:p>
            <a:pPr marL="0" indent="0">
              <a:buNone/>
            </a:pPr>
            <a:r>
              <a:rPr lang="en-US" sz="2900" b="1" dirty="0">
                <a:solidFill>
                  <a:srgbClr val="2CA58D"/>
                </a:solidFill>
                <a:latin typeface="Aptos Display" pitchFamily="34" charset="0"/>
                <a:ea typeface="Aptos Display" pitchFamily="34" charset="-122"/>
                <a:cs typeface="Aptos Display" pitchFamily="34" charset="-120"/>
              </a:rPr>
              <a:t>Prevent</a:t>
            </a:r>
            <a:endParaRPr lang="en-US" sz="2900" dirty="0"/>
          </a:p>
        </p:txBody>
      </p:sp>
      <p:sp>
        <p:nvSpPr>
          <p:cNvPr id="11" name="Text 9"/>
          <p:cNvSpPr/>
          <p:nvPr/>
        </p:nvSpPr>
        <p:spPr>
          <a:xfrm>
            <a:off x="6080760" y="4773168"/>
            <a:ext cx="2560320" cy="310896"/>
          </a:xfrm>
          <a:prstGeom prst="rect">
            <a:avLst/>
          </a:prstGeom>
          <a:noFill/>
          <a:ln/>
        </p:spPr>
        <p:txBody>
          <a:bodyPr wrap="square" lIns="0" tIns="0" rIns="0" bIns="0" rtlCol="0" anchor="ctr">
            <a:normAutofit/>
          </a:bodyPr>
          <a:lstStyle/>
          <a:p>
            <a:pPr marL="0" indent="0">
              <a:buNone/>
            </a:pPr>
            <a:r>
              <a:rPr lang="en-US" sz="1020" dirty="0">
                <a:solidFill>
                  <a:srgbClr val="B8C0CC"/>
                </a:solidFill>
              </a:rPr>
              <a:t>margin and trust loss</a:t>
            </a:r>
            <a:endParaRPr lang="en-US" sz="1020" dirty="0"/>
          </a:p>
        </p:txBody>
      </p:sp>
      <p:sp>
        <p:nvSpPr>
          <p:cNvPr id="12" name="Text 10"/>
          <p:cNvSpPr/>
          <p:nvPr/>
        </p:nvSpPr>
        <p:spPr>
          <a:xfrm>
            <a:off x="8686800" y="1241474"/>
            <a:ext cx="2743200" cy="2278966"/>
          </a:xfrm>
          <a:prstGeom prst="rect">
            <a:avLst/>
          </a:prstGeom>
          <a:solidFill>
            <a:srgbClr val="0F253C"/>
          </a:solidFill>
          <a:ln w="13970">
            <a:solidFill>
              <a:srgbClr val="7B2CBF">
                <a:alpha val="85000"/>
              </a:srgbClr>
            </a:solidFill>
          </a:ln>
        </p:spPr>
        <p:txBody>
          <a:bodyPr wrap="square" lIns="1651" tIns="1651" rIns="1651" bIns="1651" rtlCol="0" anchor="ctr">
            <a:normAutofit/>
          </a:bodyPr>
          <a:lstStyle/>
          <a:p>
            <a:pPr marL="0" indent="0" algn="ctr">
              <a:buNone/>
            </a:pPr>
            <a:r>
              <a:rPr lang="en-US" sz="1250" dirty="0">
                <a:solidFill>
                  <a:srgbClr val="F5F7FB"/>
                </a:solidFill>
              </a:rPr>
              <a:t>Stakeholder decision: approve the 90-day pilot and use weekly governance to convert insights into measurable operational improvement.</a:t>
            </a:r>
            <a:endParaRPr lang="en-US" sz="1250" dirty="0"/>
          </a:p>
        </p:txBody>
      </p:sp>
      <p:sp>
        <p:nvSpPr>
          <p:cNvPr id="14" name="Text 11"/>
          <p:cNvSpPr/>
          <p:nvPr/>
        </p:nvSpPr>
        <p:spPr>
          <a:xfrm>
            <a:off x="411480" y="6537960"/>
            <a:ext cx="5852160" cy="164592"/>
          </a:xfrm>
          <a:prstGeom prst="rect">
            <a:avLst/>
          </a:prstGeom>
          <a:noFill/>
          <a:ln/>
        </p:spPr>
        <p:txBody>
          <a:bodyPr wrap="square" lIns="0" tIns="0" rIns="0" bIns="0" rtlCol="0" anchor="ctr"/>
          <a:lstStyle/>
          <a:p>
            <a:pPr marL="0" indent="0">
              <a:buNone/>
            </a:pPr>
            <a:r>
              <a:rPr lang="en-US" sz="750" dirty="0">
                <a:solidFill>
                  <a:srgbClr val="7F8FA6"/>
                </a:solidFill>
                <a:latin typeface="Aptos" pitchFamily="34" charset="0"/>
                <a:ea typeface="Aptos" pitchFamily="34" charset="-122"/>
                <a:cs typeface="Aptos" pitchFamily="34" charset="-120"/>
              </a:rPr>
              <a:t>Source: Python SCM analysis | Generated stakeholder report</a:t>
            </a:r>
            <a:endParaRPr lang="en-US" sz="750" dirty="0"/>
          </a:p>
        </p:txBody>
      </p:sp>
      <p:sp>
        <p:nvSpPr>
          <p:cNvPr id="15" name="Text 12"/>
          <p:cNvSpPr/>
          <p:nvPr/>
        </p:nvSpPr>
        <p:spPr>
          <a:xfrm>
            <a:off x="11430000" y="6473952"/>
            <a:ext cx="320040" cy="182880"/>
          </a:xfrm>
          <a:prstGeom prst="rect">
            <a:avLst/>
          </a:prstGeom>
          <a:noFill/>
          <a:ln/>
        </p:spPr>
        <p:txBody>
          <a:bodyPr wrap="square" lIns="0" tIns="0" rIns="0" bIns="0" rtlCol="0" anchor="ctr"/>
          <a:lstStyle/>
          <a:p>
            <a:pPr marL="0" indent="0" algn="r">
              <a:buNone/>
            </a:pPr>
            <a:r>
              <a:rPr lang="en-US" sz="850" dirty="0">
                <a:solidFill>
                  <a:srgbClr val="7F8FA6"/>
                </a:solidFill>
                <a:latin typeface="Aptos" pitchFamily="34" charset="0"/>
                <a:ea typeface="Aptos" pitchFamily="34" charset="-122"/>
                <a:cs typeface="Aptos" pitchFamily="34" charset="-120"/>
              </a:rPr>
              <a:t>16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2422</Words>
  <Application>Microsoft Office PowerPoint</Application>
  <PresentationFormat>Custom</PresentationFormat>
  <Paragraphs>310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Management Analysis - Stakeholder Report</dc:title>
  <dc:subject>Supply Chain Management Analysis</dc:subject>
  <dc:creator>OpenAI</dc:creator>
  <cp:lastModifiedBy>Admin</cp:lastModifiedBy>
  <cp:revision>2</cp:revision>
  <dcterms:created xsi:type="dcterms:W3CDTF">2026-05-14T11:38:36Z</dcterms:created>
  <dcterms:modified xsi:type="dcterms:W3CDTF">2026-05-14T13:17:16Z</dcterms:modified>
</cp:coreProperties>
</file>